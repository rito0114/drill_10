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38"/>
  </p:notesMasterIdLst>
  <p:handoutMasterIdLst>
    <p:handoutMasterId r:id="rId39"/>
  </p:handoutMasterIdLst>
  <p:sldIdLst>
    <p:sldId id="259" r:id="rId2"/>
    <p:sldId id="722" r:id="rId3"/>
    <p:sldId id="723" r:id="rId4"/>
    <p:sldId id="724" r:id="rId5"/>
    <p:sldId id="725" r:id="rId6"/>
    <p:sldId id="726" r:id="rId7"/>
    <p:sldId id="351" r:id="rId8"/>
    <p:sldId id="754" r:id="rId9"/>
    <p:sldId id="727" r:id="rId10"/>
    <p:sldId id="728" r:id="rId11"/>
    <p:sldId id="753" r:id="rId12"/>
    <p:sldId id="729" r:id="rId13"/>
    <p:sldId id="364" r:id="rId14"/>
    <p:sldId id="752" r:id="rId15"/>
    <p:sldId id="365" r:id="rId16"/>
    <p:sldId id="471" r:id="rId17"/>
    <p:sldId id="470" r:id="rId18"/>
    <p:sldId id="460" r:id="rId19"/>
    <p:sldId id="456" r:id="rId20"/>
    <p:sldId id="461" r:id="rId21"/>
    <p:sldId id="613" r:id="rId22"/>
    <p:sldId id="462" r:id="rId23"/>
    <p:sldId id="437" r:id="rId24"/>
    <p:sldId id="438" r:id="rId25"/>
    <p:sldId id="751" r:id="rId26"/>
    <p:sldId id="478" r:id="rId27"/>
    <p:sldId id="615" r:id="rId28"/>
    <p:sldId id="464" r:id="rId29"/>
    <p:sldId id="474" r:id="rId30"/>
    <p:sldId id="465" r:id="rId31"/>
    <p:sldId id="475" r:id="rId32"/>
    <p:sldId id="466" r:id="rId33"/>
    <p:sldId id="476" r:id="rId34"/>
    <p:sldId id="468" r:id="rId35"/>
    <p:sldId id="469" r:id="rId36"/>
    <p:sldId id="473" r:id="rId37"/>
  </p:sldIdLst>
  <p:sldSz cx="9144000" cy="5143500" type="screen16x9"/>
  <p:notesSz cx="6858000" cy="9144000"/>
  <p:defaultTextStyle>
    <a:defPPr>
      <a:defRPr lang="ko-KR"/>
    </a:defPPr>
    <a:lvl1pPr marL="0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5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0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35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81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26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FD008ED-05A6-4937-BC43-39A7EE58EF5A}">
          <p14:sldIdLst>
            <p14:sldId id="259"/>
            <p14:sldId id="722"/>
            <p14:sldId id="723"/>
            <p14:sldId id="724"/>
            <p14:sldId id="725"/>
            <p14:sldId id="726"/>
            <p14:sldId id="351"/>
            <p14:sldId id="754"/>
            <p14:sldId id="727"/>
            <p14:sldId id="728"/>
            <p14:sldId id="753"/>
          </p14:sldIdLst>
        </p14:section>
        <p14:section name="제목 없는 구역" id="{9BE099CB-009F-4AD8-A6D2-7DAB19A10010}">
          <p14:sldIdLst>
            <p14:sldId id="729"/>
            <p14:sldId id="364"/>
            <p14:sldId id="752"/>
            <p14:sldId id="365"/>
            <p14:sldId id="471"/>
            <p14:sldId id="470"/>
            <p14:sldId id="460"/>
            <p14:sldId id="456"/>
            <p14:sldId id="461"/>
            <p14:sldId id="613"/>
            <p14:sldId id="462"/>
            <p14:sldId id="437"/>
            <p14:sldId id="438"/>
            <p14:sldId id="751"/>
            <p14:sldId id="478"/>
            <p14:sldId id="615"/>
            <p14:sldId id="464"/>
            <p14:sldId id="474"/>
            <p14:sldId id="465"/>
            <p14:sldId id="475"/>
            <p14:sldId id="466"/>
            <p14:sldId id="476"/>
            <p14:sldId id="468"/>
            <p14:sldId id="469"/>
            <p14:sldId id="47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ABD8"/>
    <a:srgbClr val="048ED3"/>
    <a:srgbClr val="044CA2"/>
    <a:srgbClr val="1658A8"/>
    <a:srgbClr val="01B2CC"/>
    <a:srgbClr val="3399FF"/>
    <a:srgbClr val="99CCFF"/>
    <a:srgbClr val="66CCFF"/>
    <a:srgbClr val="FF66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9" autoAdjust="0"/>
    <p:restoredTop sz="88503" autoAdjust="0"/>
  </p:normalViewPr>
  <p:slideViewPr>
    <p:cSldViewPr snapToGrid="0">
      <p:cViewPr varScale="1">
        <p:scale>
          <a:sx n="170" d="100"/>
          <a:sy n="170" d="100"/>
        </p:scale>
        <p:origin x="7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51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762B07-010A-4736-9DFA-BB8F01696DB9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C9138-B0E2-461F-B8E2-5CB27C6450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4500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B2639-E251-4B91-B04E-F4A39D6657D0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58B9CC-458F-4497-8737-CAF2F390B8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04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5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0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35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81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26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8B9CC-458F-4497-8737-CAF2F390B8C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273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8B9CC-458F-4497-8737-CAF2F390B8C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471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8B9CC-458F-4497-8737-CAF2F390B8C0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000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8B9CC-458F-4497-8737-CAF2F390B8C0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107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  <a:prstGeom prst="rect">
            <a:avLst/>
          </a:prstGeom>
        </p:spPr>
        <p:txBody>
          <a:bodyPr/>
          <a:lstStyle>
            <a:lvl1pPr>
              <a:defRPr sz="2200" b="1" i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55202" y="618982"/>
            <a:ext cx="8981294" cy="4275028"/>
          </a:xfrm>
          <a:prstGeom prst="rect">
            <a:avLst/>
          </a:prstGeom>
        </p:spPr>
        <p:txBody>
          <a:bodyPr/>
          <a:lstStyle>
            <a:lvl1pPr marL="124617" indent="-124617">
              <a:lnSpc>
                <a:spcPct val="100000"/>
              </a:lnSpc>
              <a:spcBef>
                <a:spcPts val="554"/>
              </a:spcBef>
              <a:buClr>
                <a:srgbClr val="048ED3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249235" indent="-124617">
              <a:lnSpc>
                <a:spcPct val="100000"/>
              </a:lnSpc>
              <a:spcBef>
                <a:spcPts val="554"/>
              </a:spcBef>
              <a:buClr>
                <a:srgbClr val="048ED3"/>
              </a:buClr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2pPr>
            <a:lvl3pPr marL="498469" indent="-124617">
              <a:lnSpc>
                <a:spcPct val="100000"/>
              </a:lnSpc>
              <a:spcBef>
                <a:spcPts val="554"/>
              </a:spcBef>
              <a:buClr>
                <a:srgbClr val="048ED3"/>
              </a:buClr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3pPr>
            <a:lvl4pPr marL="747704" indent="-124617">
              <a:lnSpc>
                <a:spcPct val="100000"/>
              </a:lnSpc>
              <a:spcBef>
                <a:spcPts val="554"/>
              </a:spcBef>
              <a:buClr>
                <a:srgbClr val="048ED3"/>
              </a:buClr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4pPr>
            <a:lvl5pPr marL="996938" indent="-124617">
              <a:lnSpc>
                <a:spcPct val="100000"/>
              </a:lnSpc>
              <a:spcBef>
                <a:spcPts val="554"/>
              </a:spcBef>
              <a:buClr>
                <a:srgbClr val="048ED3"/>
              </a:buClr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 마스터 텍스트 스타일을 편집합니다</a:t>
            </a:r>
            <a:r>
              <a:rPr lang="en-US" altLang="ko-KR" dirty="0"/>
              <a:t>. </a:t>
            </a:r>
            <a:endParaRPr lang="ko-KR" altLang="en-US" dirty="0"/>
          </a:p>
          <a:p>
            <a:pPr lvl="1"/>
            <a:r>
              <a:rPr lang="ko-KR" altLang="en-US" dirty="0"/>
              <a:t> 둘째 수준</a:t>
            </a:r>
          </a:p>
          <a:p>
            <a:pPr lvl="2"/>
            <a:r>
              <a:rPr lang="ko-KR" altLang="en-US" dirty="0"/>
              <a:t> 셋째 수준</a:t>
            </a:r>
          </a:p>
          <a:p>
            <a:pPr lvl="3"/>
            <a:r>
              <a:rPr lang="ko-KR" altLang="en-US" dirty="0"/>
              <a:t> 넷째 수준</a:t>
            </a:r>
          </a:p>
          <a:p>
            <a:pPr lvl="4"/>
            <a:r>
              <a:rPr lang="ko-KR" altLang="en-US" dirty="0"/>
              <a:t> 다섯째 수준</a:t>
            </a:r>
          </a:p>
        </p:txBody>
      </p:sp>
      <p:cxnSp>
        <p:nvCxnSpPr>
          <p:cNvPr id="4" name="Straight Connector 11"/>
          <p:cNvCxnSpPr>
            <a:cxnSpLocks/>
          </p:cNvCxnSpPr>
          <p:nvPr userDrawn="1"/>
        </p:nvCxnSpPr>
        <p:spPr>
          <a:xfrm>
            <a:off x="33418" y="568479"/>
            <a:ext cx="9003078" cy="0"/>
          </a:xfrm>
          <a:prstGeom prst="line">
            <a:avLst/>
          </a:prstGeom>
          <a:ln w="25400">
            <a:solidFill>
              <a:srgbClr val="048E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912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9E58036D-FB22-427F-91AE-E1045B46E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  <a:prstGeom prst="rect">
            <a:avLst/>
          </a:prstGeom>
        </p:spPr>
        <p:txBody>
          <a:bodyPr/>
          <a:lstStyle>
            <a:lvl1pPr>
              <a:defRPr sz="2200" b="1" i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5" name="Straight Connector 11">
            <a:extLst>
              <a:ext uri="{FF2B5EF4-FFF2-40B4-BE49-F238E27FC236}">
                <a16:creationId xmlns:a16="http://schemas.microsoft.com/office/drawing/2014/main" id="{737BA576-93AE-49D6-AEB2-07214FE6BB36}"/>
              </a:ext>
            </a:extLst>
          </p:cNvPr>
          <p:cNvCxnSpPr>
            <a:cxnSpLocks/>
          </p:cNvCxnSpPr>
          <p:nvPr userDrawn="1"/>
        </p:nvCxnSpPr>
        <p:spPr>
          <a:xfrm>
            <a:off x="33418" y="568479"/>
            <a:ext cx="9003078" cy="0"/>
          </a:xfrm>
          <a:prstGeom prst="line">
            <a:avLst/>
          </a:prstGeom>
          <a:ln w="25400">
            <a:solidFill>
              <a:srgbClr val="048E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20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148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1"/>
          <p:cNvSpPr txBox="1">
            <a:spLocks noChangeArrowheads="1"/>
          </p:cNvSpPr>
          <p:nvPr userDrawn="1"/>
        </p:nvSpPr>
        <p:spPr bwMode="auto">
          <a:xfrm>
            <a:off x="8" y="4937427"/>
            <a:ext cx="9128841" cy="19620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ko-KR" sz="675" b="1" baseline="0" dirty="0">
                <a:solidFill>
                  <a:schemeClr val="bg1">
                    <a:lumMod val="6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2D </a:t>
            </a:r>
            <a:r>
              <a:rPr lang="ko-KR" altLang="en-US" sz="675" b="1" baseline="0" dirty="0">
                <a:solidFill>
                  <a:schemeClr val="bg1">
                    <a:lumMod val="6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게임 프로그래밍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altLang="ko-KR" sz="675" b="1" baseline="0" dirty="0">
                <a:solidFill>
                  <a:schemeClr val="bg1">
                    <a:lumMod val="6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Copyleft by </a:t>
            </a:r>
            <a:r>
              <a:rPr lang="ko-KR" altLang="en-US" sz="675" b="1" baseline="0" dirty="0">
                <a:solidFill>
                  <a:schemeClr val="bg1">
                    <a:lumMod val="6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이대현</a:t>
            </a:r>
            <a:endParaRPr lang="ko-KR" altLang="en-US" sz="675" b="1" dirty="0">
              <a:solidFill>
                <a:schemeClr val="bg1">
                  <a:lumMod val="6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6404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523" b="1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523" b="1">
          <a:solidFill>
            <a:schemeClr val="tx1"/>
          </a:solidFill>
          <a:latin typeface="나눔고딕" pitchFamily="50" charset="-127"/>
          <a:ea typeface="나눔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523" b="1">
          <a:solidFill>
            <a:schemeClr val="tx1"/>
          </a:solidFill>
          <a:latin typeface="나눔고딕" pitchFamily="50" charset="-127"/>
          <a:ea typeface="나눔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523" b="1">
          <a:solidFill>
            <a:schemeClr val="tx1"/>
          </a:solidFill>
          <a:latin typeface="나눔고딕" pitchFamily="50" charset="-127"/>
          <a:ea typeface="나눔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523" b="1">
          <a:solidFill>
            <a:schemeClr val="tx1"/>
          </a:solidFill>
          <a:latin typeface="나눔고딕" pitchFamily="50" charset="-127"/>
          <a:ea typeface="나눔고딕" pitchFamily="50" charset="-127"/>
        </a:defRPr>
      </a:lvl5pPr>
      <a:lvl6pPr marL="316528" algn="l" rtl="0" fontAlgn="base" latinLnBrk="1">
        <a:spcBef>
          <a:spcPct val="0"/>
        </a:spcBef>
        <a:spcAft>
          <a:spcPct val="0"/>
        </a:spcAft>
        <a:defRPr kumimoji="1" sz="1523" b="1">
          <a:solidFill>
            <a:schemeClr val="tx1"/>
          </a:solidFill>
          <a:latin typeface="나눔고딕" pitchFamily="50" charset="-127"/>
          <a:ea typeface="나눔고딕" pitchFamily="50" charset="-127"/>
        </a:defRPr>
      </a:lvl6pPr>
      <a:lvl7pPr marL="633056" algn="l" rtl="0" fontAlgn="base" latinLnBrk="1">
        <a:spcBef>
          <a:spcPct val="0"/>
        </a:spcBef>
        <a:spcAft>
          <a:spcPct val="0"/>
        </a:spcAft>
        <a:defRPr kumimoji="1" sz="1523" b="1">
          <a:solidFill>
            <a:schemeClr val="tx1"/>
          </a:solidFill>
          <a:latin typeface="나눔고딕" pitchFamily="50" charset="-127"/>
          <a:ea typeface="나눔고딕" pitchFamily="50" charset="-127"/>
        </a:defRPr>
      </a:lvl7pPr>
      <a:lvl8pPr marL="949583" algn="l" rtl="0" fontAlgn="base" latinLnBrk="1">
        <a:spcBef>
          <a:spcPct val="0"/>
        </a:spcBef>
        <a:spcAft>
          <a:spcPct val="0"/>
        </a:spcAft>
        <a:defRPr kumimoji="1" sz="1523" b="1">
          <a:solidFill>
            <a:schemeClr val="tx1"/>
          </a:solidFill>
          <a:latin typeface="나눔고딕" pitchFamily="50" charset="-127"/>
          <a:ea typeface="나눔고딕" pitchFamily="50" charset="-127"/>
        </a:defRPr>
      </a:lvl8pPr>
      <a:lvl9pPr marL="1266110" algn="l" rtl="0" fontAlgn="base" latinLnBrk="1">
        <a:spcBef>
          <a:spcPct val="0"/>
        </a:spcBef>
        <a:spcAft>
          <a:spcPct val="0"/>
        </a:spcAft>
        <a:defRPr kumimoji="1" sz="1523" b="1">
          <a:solidFill>
            <a:schemeClr val="tx1"/>
          </a:solidFill>
          <a:latin typeface="나눔고딕" pitchFamily="50" charset="-127"/>
          <a:ea typeface="나눔고딕" pitchFamily="50" charset="-127"/>
        </a:defRPr>
      </a:lvl9pPr>
    </p:titleStyle>
    <p:bodyStyle>
      <a:lvl1pPr marL="0" indent="124617" algn="l" rtl="0" eaLnBrk="0" fontAlgn="base" latinLnBrk="1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kumimoji="1" b="1">
          <a:solidFill>
            <a:schemeClr val="tx1"/>
          </a:solidFill>
          <a:latin typeface="+mn-lt"/>
          <a:ea typeface="+mn-ea"/>
          <a:cs typeface="+mn-cs"/>
        </a:defRPr>
      </a:lvl1pPr>
      <a:lvl2pPr marL="249235" indent="-124617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kumimoji="1" sz="1108">
          <a:solidFill>
            <a:schemeClr val="tx1"/>
          </a:solidFill>
          <a:latin typeface="+mn-lt"/>
          <a:ea typeface="+mn-ea"/>
        </a:defRPr>
      </a:lvl2pPr>
      <a:lvl3pPr marL="498469" indent="-124617" algn="l" rtl="0" eaLnBrk="0" fontAlgn="base" latinLnBrk="1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kumimoji="1" sz="969">
          <a:solidFill>
            <a:schemeClr val="tx1"/>
          </a:solidFill>
          <a:latin typeface="+mn-lt"/>
          <a:ea typeface="+mn-ea"/>
        </a:defRPr>
      </a:lvl3pPr>
      <a:lvl4pPr marL="747704" indent="-124617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kumimoji="1" sz="831">
          <a:solidFill>
            <a:schemeClr val="tx1"/>
          </a:solidFill>
          <a:latin typeface="+mn-lt"/>
          <a:ea typeface="+mn-ea"/>
        </a:defRPr>
      </a:lvl4pPr>
      <a:lvl5pPr marL="996938" indent="-124617" algn="l" rtl="0" eaLnBrk="0" fontAlgn="base" latinLnBrk="1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831">
          <a:solidFill>
            <a:schemeClr val="tx1"/>
          </a:solidFill>
          <a:latin typeface="+mn-lt"/>
          <a:ea typeface="+mn-ea"/>
        </a:defRPr>
      </a:lvl5pPr>
      <a:lvl6pPr marL="1740901" indent="-158264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831">
          <a:solidFill>
            <a:schemeClr val="tx1"/>
          </a:solidFill>
          <a:latin typeface="+mn-lt"/>
          <a:ea typeface="+mn-ea"/>
        </a:defRPr>
      </a:lvl6pPr>
      <a:lvl7pPr marL="2057429" indent="-158264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831">
          <a:solidFill>
            <a:schemeClr val="tx1"/>
          </a:solidFill>
          <a:latin typeface="+mn-lt"/>
          <a:ea typeface="+mn-ea"/>
        </a:defRPr>
      </a:lvl7pPr>
      <a:lvl8pPr marL="2373957" indent="-158264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831">
          <a:solidFill>
            <a:schemeClr val="tx1"/>
          </a:solidFill>
          <a:latin typeface="+mn-lt"/>
          <a:ea typeface="+mn-ea"/>
        </a:defRPr>
      </a:lvl8pPr>
      <a:lvl9pPr marL="2690485" indent="-158264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83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633056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1pPr>
      <a:lvl2pPr marL="316528" algn="l" defTabSz="633056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2pPr>
      <a:lvl3pPr marL="633056" algn="l" defTabSz="633056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3pPr>
      <a:lvl4pPr marL="949583" algn="l" defTabSz="633056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4pPr>
      <a:lvl5pPr marL="1266110" algn="l" defTabSz="633056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5pPr>
      <a:lvl6pPr marL="1582639" algn="l" defTabSz="633056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6pPr>
      <a:lvl7pPr marL="1899167" algn="l" defTabSz="633056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7pPr>
      <a:lvl8pPr marL="2215693" algn="l" defTabSz="633056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8pPr>
      <a:lvl9pPr marL="2532221" algn="l" defTabSz="633056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iobe.com/tiobe-index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/>
        </p:nvSpPr>
        <p:spPr>
          <a:xfrm>
            <a:off x="0" y="642943"/>
            <a:ext cx="9144000" cy="3278981"/>
          </a:xfrm>
          <a:prstGeom prst="rect">
            <a:avLst/>
          </a:prstGeom>
          <a:solidFill>
            <a:srgbClr val="048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8" name="Rectangle 1"/>
          <p:cNvSpPr/>
          <p:nvPr/>
        </p:nvSpPr>
        <p:spPr>
          <a:xfrm>
            <a:off x="0" y="3921924"/>
            <a:ext cx="9144000" cy="12215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9" name="Rectangle 4"/>
          <p:cNvSpPr/>
          <p:nvPr/>
        </p:nvSpPr>
        <p:spPr>
          <a:xfrm>
            <a:off x="2225282" y="1205504"/>
            <a:ext cx="4688086" cy="509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나눔고딕"/>
              </a:rPr>
              <a:t>Lecture #1. </a:t>
            </a:r>
            <a:r>
              <a:rPr lang="ko-KR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나눔고딕"/>
              </a:rPr>
              <a:t>파이썬 기초 </a:t>
            </a:r>
            <a:r>
              <a:rPr lang="en-US" altLang="ko-KR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나눔고딕"/>
              </a:rPr>
              <a:t>(1)</a:t>
            </a:r>
            <a:endParaRPr lang="en-US" altLang="ko-KR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ExtraBold" panose="020B0600000101010101" pitchFamily="50" charset="-127"/>
              <a:ea typeface="나눔스퀘어 ExtraBold" panose="020B0600000101010101" pitchFamily="50" charset="-127"/>
              <a:cs typeface="나눔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86125" y="2998251"/>
            <a:ext cx="2571750" cy="63491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ko-KR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2D </a:t>
            </a:r>
            <a:r>
              <a:rPr lang="ko-KR" alt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게임 프로그래밍</a:t>
            </a:r>
            <a:endParaRPr lang="en-US" altLang="ko-KR" sz="15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/>
            <a:endParaRPr lang="en-US" altLang="ko-KR" sz="1013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/>
            <a:r>
              <a:rPr lang="ko-KR" altLang="en-US" sz="1013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이대현 교수</a:t>
            </a:r>
            <a:endParaRPr lang="en-US" altLang="ko-KR" sz="1013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3" name="Picture 2" descr="기본형 로고타입 강조">
            <a:extLst>
              <a:ext uri="{FF2B5EF4-FFF2-40B4-BE49-F238E27FC236}">
                <a16:creationId xmlns:a16="http://schemas.microsoft.com/office/drawing/2014/main" id="{7EF76DEC-645F-5075-3CAB-12F6CF5E7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967" y="4210680"/>
            <a:ext cx="2526698" cy="411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7545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699060-A56B-FF40-B89E-2B18AE0DE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</p:spPr>
        <p:txBody>
          <a:bodyPr/>
          <a:lstStyle/>
          <a:p>
            <a:r>
              <a:rPr lang="ko-KR" altLang="en-US" dirty="0" err="1"/>
              <a:t>파이썬</a:t>
            </a:r>
            <a:endParaRPr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5841B0-41EB-6E4B-BCC9-A952B87F2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2" y="618982"/>
            <a:ext cx="8981294" cy="1234532"/>
          </a:xfrm>
        </p:spPr>
        <p:txBody>
          <a:bodyPr/>
          <a:lstStyle/>
          <a:p>
            <a:r>
              <a:rPr lang="en-US" altLang="ko-KR" dirty="0"/>
              <a:t>1991</a:t>
            </a:r>
            <a:r>
              <a:rPr lang="ko-KR" altLang="en-US" dirty="0"/>
              <a:t>년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ore-KR" dirty="0"/>
              <a:t>Guido van Rossum</a:t>
            </a:r>
            <a:r>
              <a:rPr lang="ko-KR" altLang="en-US" dirty="0"/>
              <a:t> 이 개발</a:t>
            </a:r>
            <a:endParaRPr lang="en-US" altLang="ko-KR" dirty="0"/>
          </a:p>
          <a:p>
            <a:r>
              <a:rPr lang="en-US" altLang="ko-Kore-KR" dirty="0"/>
              <a:t>VM </a:t>
            </a:r>
            <a:r>
              <a:rPr lang="ko-KR" altLang="en-US" dirty="0"/>
              <a:t>기반 </a:t>
            </a:r>
            <a:r>
              <a:rPr lang="ko-KR" altLang="en-US"/>
              <a:t>인터프리터 언어</a:t>
            </a:r>
            <a:endParaRPr lang="en-US" altLang="ko-K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0D30D08-ACF9-694E-B636-F110418FD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6429" y="2431111"/>
            <a:ext cx="2354084" cy="1569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ython™">
            <a:extLst>
              <a:ext uri="{FF2B5EF4-FFF2-40B4-BE49-F238E27FC236}">
                <a16:creationId xmlns:a16="http://schemas.microsoft.com/office/drawing/2014/main" id="{E09EEF50-9356-DD44-9E0F-430029BCE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" y="2431111"/>
            <a:ext cx="552450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5607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699060-A56B-FF40-B89E-2B18AE0DE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</p:spPr>
        <p:txBody>
          <a:bodyPr/>
          <a:lstStyle/>
          <a:p>
            <a:r>
              <a:rPr lang="ko-KR" altLang="en-US" dirty="0"/>
              <a:t>특징</a:t>
            </a:r>
            <a:endParaRPr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5841B0-41EB-6E4B-BCC9-A952B87F2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2" y="618982"/>
            <a:ext cx="8981294" cy="4275028"/>
          </a:xfrm>
        </p:spPr>
        <p:txBody>
          <a:bodyPr/>
          <a:lstStyle/>
          <a:p>
            <a:r>
              <a:rPr lang="ko-KR" altLang="en-US" dirty="0"/>
              <a:t>다양한 프로그래밍 패러다임 제공</a:t>
            </a:r>
            <a:endParaRPr lang="en-US" altLang="ko-KR" dirty="0"/>
          </a:p>
          <a:p>
            <a:pPr lvl="1"/>
            <a:r>
              <a:rPr lang="ko-KR" altLang="en-US" dirty="0"/>
              <a:t>구조적 프로그래밍</a:t>
            </a:r>
            <a:endParaRPr lang="en-US" altLang="ko-KR" dirty="0"/>
          </a:p>
          <a:p>
            <a:pPr lvl="1"/>
            <a:r>
              <a:rPr lang="ko-KR" altLang="en-US" dirty="0" err="1"/>
              <a:t>절차지향</a:t>
            </a:r>
            <a:r>
              <a:rPr lang="ko-KR" altLang="en-US" dirty="0"/>
              <a:t> 프로그래밍</a:t>
            </a:r>
            <a:endParaRPr lang="en-US" altLang="ko-KR" dirty="0"/>
          </a:p>
          <a:p>
            <a:pPr lvl="1"/>
            <a:r>
              <a:rPr lang="ko-KR" altLang="en-US" dirty="0"/>
              <a:t>객체지향 프로그래밍</a:t>
            </a:r>
            <a:endParaRPr lang="en-US" altLang="ko-KR" dirty="0"/>
          </a:p>
          <a:p>
            <a:pPr lvl="1"/>
            <a:r>
              <a:rPr lang="ko-KR" altLang="en-US" dirty="0"/>
              <a:t>함수형 프로그래밍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동적 </a:t>
            </a:r>
            <a:r>
              <a:rPr lang="ko-KR" altLang="en-US" dirty="0" err="1"/>
              <a:t>자료형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풍부한 기본 라이브러리 함수</a:t>
            </a:r>
            <a:endParaRPr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123439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699060-A56B-FF40-B89E-2B18AE0DE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</p:spPr>
        <p:txBody>
          <a:bodyPr/>
          <a:lstStyle/>
          <a:p>
            <a:r>
              <a:rPr lang="ko-KR" altLang="en-US" dirty="0"/>
              <a:t>장점</a:t>
            </a:r>
            <a:endParaRPr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5841B0-41EB-6E4B-BCC9-A952B87F2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2" y="618982"/>
            <a:ext cx="8981294" cy="4275028"/>
          </a:xfrm>
        </p:spPr>
        <p:txBody>
          <a:bodyPr/>
          <a:lstStyle/>
          <a:p>
            <a:r>
              <a:rPr lang="ko-KR" altLang="en-US" dirty="0"/>
              <a:t>쉽다</a:t>
            </a:r>
            <a:r>
              <a:rPr lang="en-US" altLang="ko-KR" dirty="0"/>
              <a:t>.</a:t>
            </a:r>
          </a:p>
          <a:p>
            <a:endParaRPr lang="en-US" altLang="ko-Kore-KR" dirty="0"/>
          </a:p>
          <a:p>
            <a:r>
              <a:rPr lang="ko-KR" altLang="en-US" dirty="0"/>
              <a:t>간결하다</a:t>
            </a:r>
            <a:r>
              <a:rPr lang="en-US" altLang="ko-KR" dirty="0"/>
              <a:t>.</a:t>
            </a:r>
          </a:p>
          <a:p>
            <a:endParaRPr lang="en-US" altLang="ko-Kore-KR" dirty="0"/>
          </a:p>
          <a:p>
            <a:r>
              <a:rPr lang="ko-KR" altLang="en-US" dirty="0"/>
              <a:t>빠르게 개발할 수 있다</a:t>
            </a:r>
            <a:r>
              <a:rPr lang="en-US" altLang="ko-KR" dirty="0"/>
              <a:t>.</a:t>
            </a:r>
          </a:p>
          <a:p>
            <a:pPr lvl="1"/>
            <a:endParaRPr lang="en-US" altLang="ko-Kore-KR" dirty="0"/>
          </a:p>
          <a:p>
            <a:pPr lvl="1"/>
            <a:endParaRPr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4131982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D566D78-3F44-6732-E57F-9A6EDAB69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30" y="1180734"/>
            <a:ext cx="7895958" cy="332790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F0FBEC2-349A-EA4C-91F7-4EB4395D3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</p:spPr>
        <p:txBody>
          <a:bodyPr/>
          <a:lstStyle/>
          <a:p>
            <a:r>
              <a:rPr lang="ko-Kore-KR" altLang="en-US" dirty="0"/>
              <a:t>파이썬의</a:t>
            </a:r>
            <a:r>
              <a:rPr lang="ko-KR" altLang="en-US" dirty="0"/>
              <a:t> 인기</a:t>
            </a:r>
            <a:endParaRPr lang="ko-Kore-KR" altLang="en-US" dirty="0"/>
          </a:p>
        </p:txBody>
      </p:sp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E6D279DA-9C86-3F43-BF62-85D920391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2" y="618982"/>
            <a:ext cx="8981294" cy="4275028"/>
          </a:xfrm>
        </p:spPr>
        <p:txBody>
          <a:bodyPr/>
          <a:lstStyle/>
          <a:p>
            <a:r>
              <a:rPr lang="ko-KR" altLang="en-US" dirty="0"/>
              <a:t>지난 </a:t>
            </a:r>
            <a:r>
              <a:rPr lang="en-US" altLang="ko-KR" dirty="0"/>
              <a:t>30</a:t>
            </a:r>
            <a:r>
              <a:rPr lang="ko-KR" altLang="en-US" dirty="0"/>
              <a:t>년간 지속적으로 순위가 상승하면서</a:t>
            </a:r>
            <a:r>
              <a:rPr lang="en-US" altLang="ko-KR" dirty="0"/>
              <a:t>,</a:t>
            </a:r>
            <a:r>
              <a:rPr lang="ko-KR" altLang="en-US" dirty="0"/>
              <a:t> 드디어 </a:t>
            </a:r>
            <a:r>
              <a:rPr lang="en-US" altLang="ko-KR" dirty="0"/>
              <a:t>2022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위로 등극 </a:t>
            </a:r>
            <a:r>
              <a:rPr lang="en-US" altLang="ko-KR" dirty="0"/>
              <a:t>!</a:t>
            </a:r>
            <a:endParaRPr lang="ko-Kore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EEA539-C2EA-E94F-BA51-F0C3A671E721}"/>
              </a:ext>
            </a:extLst>
          </p:cNvPr>
          <p:cNvSpPr txBox="1"/>
          <p:nvPr/>
        </p:nvSpPr>
        <p:spPr>
          <a:xfrm>
            <a:off x="74542" y="4635879"/>
            <a:ext cx="601991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1350" dirty="0">
                <a:solidFill>
                  <a:schemeClr val="bg2">
                    <a:lumMod val="75000"/>
                  </a:schemeClr>
                </a:solidFill>
              </a:rPr>
              <a:t>프로그래밍</a:t>
            </a:r>
            <a:r>
              <a:rPr kumimoji="1" lang="ko-KR" altLang="en-US" sz="1350" dirty="0">
                <a:solidFill>
                  <a:schemeClr val="bg2">
                    <a:lumMod val="75000"/>
                  </a:schemeClr>
                </a:solidFill>
              </a:rPr>
              <a:t> 언어 순위 변화 </a:t>
            </a:r>
            <a:r>
              <a:rPr kumimoji="1" lang="en-US" altLang="ko-KR" sz="1350" dirty="0">
                <a:solidFill>
                  <a:schemeClr val="bg2">
                    <a:lumMod val="75000"/>
                  </a:schemeClr>
                </a:solidFill>
              </a:rPr>
              <a:t>( Source : </a:t>
            </a:r>
            <a:r>
              <a:rPr kumimoji="1" lang="en-US" altLang="ko-KR" sz="1350" dirty="0">
                <a:solidFill>
                  <a:srgbClr val="AD1F1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https://www.tiobe.com/tiobe-index</a:t>
            </a:r>
            <a:r>
              <a:rPr kumimoji="1" lang="en-US" altLang="ko-KR" sz="1350" dirty="0">
                <a:solidFill>
                  <a:schemeClr val="bg2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kumimoji="1" lang="en-US" altLang="ko-KR" sz="1350" dirty="0">
                <a:solidFill>
                  <a:schemeClr val="bg2">
                    <a:lumMod val="75000"/>
                  </a:schemeClr>
                </a:solidFill>
              </a:rPr>
              <a:t>  )</a:t>
            </a:r>
            <a:endParaRPr kumimoji="1" lang="ko-Kore-KR" altLang="en-US" sz="13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7" name="Content Placeholder 17">
            <a:extLst>
              <a:ext uri="{FF2B5EF4-FFF2-40B4-BE49-F238E27FC236}">
                <a16:creationId xmlns:a16="http://schemas.microsoft.com/office/drawing/2014/main" id="{A0E68A2D-B19C-8947-94DB-8B611B767B06}"/>
              </a:ext>
            </a:extLst>
          </p:cNvPr>
          <p:cNvSpPr txBox="1">
            <a:spLocks/>
          </p:cNvSpPr>
          <p:nvPr/>
        </p:nvSpPr>
        <p:spPr>
          <a:xfrm>
            <a:off x="235180" y="1409710"/>
            <a:ext cx="6171798" cy="25391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vert="horz" wrap="square" lIns="68580" tIns="34290" rIns="68580" bIns="3429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b="1" dirty="0">
              <a:solidFill>
                <a:srgbClr val="D2472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41271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699060-A56B-FF40-B89E-2B18AE0DE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</p:spPr>
        <p:txBody>
          <a:bodyPr/>
          <a:lstStyle/>
          <a:p>
            <a:r>
              <a:rPr lang="ko-KR" altLang="en-US" dirty="0"/>
              <a:t>단점</a:t>
            </a:r>
            <a:endParaRPr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5841B0-41EB-6E4B-BCC9-A952B87F2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2" y="618982"/>
            <a:ext cx="8981294" cy="4275028"/>
          </a:xfrm>
        </p:spPr>
        <p:txBody>
          <a:bodyPr/>
          <a:lstStyle/>
          <a:p>
            <a:r>
              <a:rPr lang="ko-KR" altLang="en-US" dirty="0"/>
              <a:t>느리다</a:t>
            </a:r>
            <a:r>
              <a:rPr lang="en-US" altLang="ko-KR" dirty="0"/>
              <a:t>.</a:t>
            </a:r>
          </a:p>
          <a:p>
            <a:endParaRPr lang="en-US" altLang="ko-Kore-KR" dirty="0"/>
          </a:p>
          <a:p>
            <a:r>
              <a:rPr lang="ko-KR" altLang="en-US" dirty="0"/>
              <a:t>너무 유연하다</a:t>
            </a:r>
            <a:r>
              <a:rPr lang="en-US" altLang="ko-KR" dirty="0"/>
              <a:t>.</a:t>
            </a:r>
          </a:p>
          <a:p>
            <a:endParaRPr lang="en-US" altLang="ko-Kore-KR" dirty="0"/>
          </a:p>
          <a:p>
            <a:r>
              <a:rPr lang="ko-KR" altLang="en-US" dirty="0"/>
              <a:t>진입 장벽이 낮다</a:t>
            </a:r>
            <a:r>
              <a:rPr lang="en-US" altLang="ko-KR" dirty="0"/>
              <a:t>.</a:t>
            </a:r>
          </a:p>
          <a:p>
            <a:endParaRPr lang="en-US" altLang="ko-Kore-KR" dirty="0"/>
          </a:p>
          <a:p>
            <a:endParaRPr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864658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139043" y="1666958"/>
            <a:ext cx="4865914" cy="203132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False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	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class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	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is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	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finally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None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	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	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lambda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	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continue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True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	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def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	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	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while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nonlocal</a:t>
            </a:r>
            <a:endParaRPr lang="ko-KR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  <a:p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and 	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del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	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global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	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not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	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with</a:t>
            </a:r>
            <a:endParaRPr lang="ko-KR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  <a:p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as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 	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elif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	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try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or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	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yield</a:t>
            </a:r>
            <a:endParaRPr lang="ko-KR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  <a:p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assert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	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else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	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import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	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pass</a:t>
            </a:r>
            <a:endParaRPr lang="ko-KR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  <a:p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	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except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	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	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raise</a:t>
            </a:r>
            <a:endParaRPr lang="ko-KR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3128963" y="705693"/>
            <a:ext cx="2334101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50"/>
              </a:spcAft>
            </a:pPr>
            <a:r>
              <a:rPr lang="en-US" altLang="ko-KR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Python Key Words</a:t>
            </a:r>
          </a:p>
        </p:txBody>
      </p:sp>
    </p:spTree>
    <p:extLst>
      <p:ext uri="{BB962C8B-B14F-4D97-AF65-F5344CB8AC3E}">
        <p14:creationId xmlns:p14="http://schemas.microsoft.com/office/powerpoint/2010/main" val="2389068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C7B443-2B6A-3A43-5C65-0E2047813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Vscode </a:t>
            </a:r>
            <a:r>
              <a:rPr lang="ko-KR" altLang="en-US"/>
              <a:t>내에서 </a:t>
            </a:r>
            <a:r>
              <a:rPr lang="en-US" altLang="ko-KR"/>
              <a:t>OpenCode </a:t>
            </a:r>
            <a:r>
              <a:rPr lang="ko-KR" altLang="en-US"/>
              <a:t>및 </a:t>
            </a:r>
            <a:r>
              <a:rPr lang="en-US" altLang="ko-KR"/>
              <a:t>Github Copilot </a:t>
            </a:r>
            <a:r>
              <a:rPr lang="ko-KR" altLang="en-US"/>
              <a:t>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B66718-4BD1-8926-690D-FF96C8693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2" y="618982"/>
            <a:ext cx="8981294" cy="1952768"/>
          </a:xfrm>
        </p:spPr>
        <p:txBody>
          <a:bodyPr/>
          <a:lstStyle/>
          <a:p>
            <a:r>
              <a:rPr lang="en-US" altLang="ko-KR"/>
              <a:t>Step #1. Github Copilot Education </a:t>
            </a:r>
            <a:r>
              <a:rPr lang="ko-KR" altLang="en-US"/>
              <a:t>가입</a:t>
            </a:r>
            <a:endParaRPr lang="en-US" altLang="ko-KR"/>
          </a:p>
          <a:p>
            <a:r>
              <a:rPr lang="en-US" altLang="ko-KR"/>
              <a:t>Step #2. Opencode zen </a:t>
            </a:r>
            <a:r>
              <a:rPr lang="ko-KR" altLang="en-US"/>
              <a:t>가입</a:t>
            </a:r>
            <a:r>
              <a:rPr lang="en-US" altLang="ko-KR"/>
              <a:t>(API key </a:t>
            </a:r>
            <a:r>
              <a:rPr lang="ko-KR" altLang="en-US"/>
              <a:t>발급</a:t>
            </a:r>
            <a:r>
              <a:rPr lang="en-US" altLang="ko-KR"/>
              <a:t>)</a:t>
            </a:r>
          </a:p>
          <a:p>
            <a:r>
              <a:rPr lang="en-US" altLang="ko-KR"/>
              <a:t>Step #3. Vscode – Github Copilot Chat Plugin </a:t>
            </a:r>
            <a:r>
              <a:rPr lang="ko-KR" altLang="en-US"/>
              <a:t>설치</a:t>
            </a:r>
            <a:r>
              <a:rPr lang="en-US" altLang="ko-KR"/>
              <a:t>(</a:t>
            </a:r>
            <a:r>
              <a:rPr lang="ko-KR" altLang="en-US"/>
              <a:t>기본 설치됨</a:t>
            </a:r>
            <a:r>
              <a:rPr lang="en-US" altLang="ko-KR"/>
              <a:t>)</a:t>
            </a:r>
          </a:p>
          <a:p>
            <a:r>
              <a:rPr lang="en-US" altLang="ko-KR"/>
              <a:t>Step #4. </a:t>
            </a:r>
            <a:r>
              <a:rPr lang="en-US" altLang="ko-KR" b="0"/>
              <a:t>OpenCode for GitHub Copilot Chat </a:t>
            </a:r>
            <a:r>
              <a:rPr lang="ko-KR" altLang="en-US" b="0"/>
              <a:t>설치</a:t>
            </a:r>
            <a:endParaRPr lang="en-US" altLang="ko-KR" b="0"/>
          </a:p>
          <a:p>
            <a:r>
              <a:rPr lang="en-US" altLang="ko-KR" b="0"/>
              <a:t>Step #5. Copilot chat </a:t>
            </a:r>
            <a:r>
              <a:rPr lang="ko-KR" altLang="en-US" b="0"/>
              <a:t>에서 </a:t>
            </a:r>
            <a:r>
              <a:rPr lang="en-US" altLang="ko-KR" b="0"/>
              <a:t>model </a:t>
            </a:r>
            <a:r>
              <a:rPr lang="ko-KR" altLang="en-US" b="0"/>
              <a:t>선택 </a:t>
            </a:r>
            <a:r>
              <a:rPr lang="en-US" altLang="ko-KR" b="0"/>
              <a:t>-&gt; Opencode zen API key </a:t>
            </a:r>
            <a:r>
              <a:rPr lang="ko-KR" altLang="en-US" b="0"/>
              <a:t>입력</a:t>
            </a:r>
            <a:endParaRPr lang="en-US" altLang="ko-KR" b="0"/>
          </a:p>
          <a:p>
            <a:endParaRPr lang="en-US" altLang="ko-KR" b="0"/>
          </a:p>
          <a:p>
            <a:r>
              <a:rPr lang="en-US" altLang="ko-KR" b="0"/>
              <a:t>Codex,</a:t>
            </a:r>
            <a:r>
              <a:rPr lang="ko-KR" altLang="en-US" b="0"/>
              <a:t> </a:t>
            </a:r>
            <a:r>
              <a:rPr lang="en-US" altLang="ko-KR" b="0"/>
              <a:t>Claude</a:t>
            </a:r>
            <a:r>
              <a:rPr lang="ko-KR" altLang="en-US" b="0"/>
              <a:t> </a:t>
            </a:r>
            <a:r>
              <a:rPr lang="en-US" altLang="ko-KR" b="0"/>
              <a:t>code </a:t>
            </a:r>
            <a:r>
              <a:rPr lang="ko-KR" altLang="en-US" b="0"/>
              <a:t>사용자는 각각 전용 </a:t>
            </a:r>
            <a:r>
              <a:rPr lang="en-US" altLang="ko-KR" b="0"/>
              <a:t>Plugin </a:t>
            </a:r>
            <a:r>
              <a:rPr lang="ko-KR" altLang="en-US" b="0"/>
              <a:t>설치</a:t>
            </a:r>
            <a:endParaRPr lang="en-US" altLang="ko-KR" b="0"/>
          </a:p>
          <a:p>
            <a:endParaRPr lang="en-US" altLang="ko-KR" b="0"/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01085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3E1A6-3E34-3409-0204-E215DE7A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실습 </a:t>
            </a:r>
            <a:r>
              <a:rPr lang="en-US" altLang="ko-KR"/>
              <a:t>: </a:t>
            </a:r>
            <a:r>
              <a:rPr lang="ko-KR" altLang="en-US"/>
              <a:t>파이썬 기초 자율 학습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5F1BE-8B53-093B-1557-AF9EEB9E6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2" y="618982"/>
            <a:ext cx="8981294" cy="1559442"/>
          </a:xfrm>
        </p:spPr>
        <p:txBody>
          <a:bodyPr/>
          <a:lstStyle/>
          <a:p>
            <a:r>
              <a:rPr lang="ko-KR" altLang="en-US"/>
              <a:t>파이썬 기초 문법을 학습할 수 있는 웹 페이지를 개발</a:t>
            </a:r>
            <a:endParaRPr lang="en-US" altLang="ko-KR"/>
          </a:p>
          <a:p>
            <a:r>
              <a:rPr lang="en-US" altLang="ko-KR"/>
              <a:t>OpenCode, Github Copilot</a:t>
            </a:r>
            <a:r>
              <a:rPr lang="ko-KR" altLang="en-US"/>
              <a:t> 혹은 다른 </a:t>
            </a:r>
            <a:r>
              <a:rPr lang="en-US" altLang="ko-KR"/>
              <a:t>AI coding agent </a:t>
            </a:r>
            <a:r>
              <a:rPr lang="ko-KR" altLang="en-US"/>
              <a:t>이용</a:t>
            </a:r>
            <a:endParaRPr lang="en-US" altLang="ko-KR"/>
          </a:p>
          <a:p>
            <a:r>
              <a:rPr lang="ko-KR" altLang="en-US"/>
              <a:t>실습 실시 및 평가</a:t>
            </a:r>
            <a:r>
              <a:rPr lang="en-US" altLang="ko-KR"/>
              <a:t>(</a:t>
            </a:r>
            <a:r>
              <a:rPr lang="ko-KR" altLang="en-US"/>
              <a:t>객관식 문제</a:t>
            </a:r>
            <a:r>
              <a:rPr lang="en-US" altLang="ko-KR"/>
              <a:t>)</a:t>
            </a:r>
          </a:p>
          <a:p>
            <a:r>
              <a:rPr lang="ko-KR" altLang="en-US"/>
              <a:t>평가 결과를 디스코드 채널에 제출</a:t>
            </a:r>
          </a:p>
        </p:txBody>
      </p:sp>
    </p:spTree>
    <p:extLst>
      <p:ext uri="{BB962C8B-B14F-4D97-AF65-F5344CB8AC3E}">
        <p14:creationId xmlns:p14="http://schemas.microsoft.com/office/powerpoint/2010/main" val="1571052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0A8D5-F9F4-0F41-D078-A1D5B634A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참고</a:t>
            </a:r>
            <a:r>
              <a:rPr lang="en-US" altLang="ko-KR"/>
              <a:t>: </a:t>
            </a:r>
            <a:r>
              <a:rPr lang="ko-KR" altLang="en-US"/>
              <a:t>샘플 프롬프트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6AB84A-436E-B042-25D5-3CE09339E247}"/>
              </a:ext>
            </a:extLst>
          </p:cNvPr>
          <p:cNvSpPr txBox="1"/>
          <p:nvPr/>
        </p:nvSpPr>
        <p:spPr>
          <a:xfrm>
            <a:off x="199150" y="1372687"/>
            <a:ext cx="301818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파이썬 기초 문법을 학습하는 웹 페이지를 만드려고 한다</a:t>
            </a:r>
            <a:r>
              <a:rPr lang="en-US" altLang="ko-KR"/>
              <a:t>. </a:t>
            </a:r>
            <a:r>
              <a:rPr lang="ko-KR" altLang="en-US"/>
              <a:t>개발 계획을 </a:t>
            </a:r>
            <a:r>
              <a:rPr lang="en-US" altLang="ko-KR"/>
              <a:t>md </a:t>
            </a:r>
            <a:r>
              <a:rPr lang="ko-KR" altLang="en-US"/>
              <a:t>로 작성해줘</a:t>
            </a:r>
            <a:r>
              <a:rPr lang="en-US" altLang="ko-KR"/>
              <a:t>. </a:t>
            </a:r>
            <a:r>
              <a:rPr lang="ko-KR" altLang="en-US"/>
              <a:t>다음 내용에 근거해서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단일 </a:t>
            </a:r>
            <a:r>
              <a:rPr lang="en-US" altLang="ko-KR"/>
              <a:t>html </a:t>
            </a:r>
            <a:r>
              <a:rPr lang="ko-KR" altLang="en-US"/>
              <a:t>파일 하나로 작성</a:t>
            </a:r>
          </a:p>
          <a:p>
            <a:r>
              <a:rPr lang="ko-KR" altLang="en-US"/>
              <a:t>코드를 직접 입력하고 실행하고</a:t>
            </a:r>
            <a:r>
              <a:rPr lang="en-US" altLang="ko-KR"/>
              <a:t>, </a:t>
            </a:r>
            <a:r>
              <a:rPr lang="ko-KR" altLang="en-US"/>
              <a:t>그 결과를 확인할 수 있게</a:t>
            </a:r>
            <a:r>
              <a:rPr lang="en-US" altLang="ko-KR"/>
              <a:t>.</a:t>
            </a:r>
          </a:p>
          <a:p>
            <a:r>
              <a:rPr lang="ko-KR" altLang="en-US"/>
              <a:t>테스트 문제를 객관식</a:t>
            </a:r>
            <a:r>
              <a:rPr lang="en-US" altLang="ko-KR"/>
              <a:t>, </a:t>
            </a:r>
            <a:r>
              <a:rPr lang="ko-KR" altLang="en-US"/>
              <a:t>주관식 문제 로 평가할 수 있음</a:t>
            </a:r>
            <a:r>
              <a:rPr lang="en-US" altLang="ko-KR"/>
              <a:t>.</a:t>
            </a:r>
            <a:br>
              <a:rPr lang="en-US" altLang="ko-KR"/>
            </a:br>
            <a:r>
              <a:rPr lang="ko-KR" altLang="en-US"/>
              <a:t>서버필요없어야함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11" name="그림 1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AE6C38-68C6-0090-A4C0-01354A6DF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790" y="-10034"/>
            <a:ext cx="568321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38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CC9A1F-BE5B-9DFA-FE23-7C6A41C4E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04" y="443175"/>
            <a:ext cx="3837432" cy="3853944"/>
          </a:xfrm>
          <a:prstGeom prst="rect">
            <a:avLst/>
          </a:prstGeom>
        </p:spPr>
      </p:pic>
      <p:pic>
        <p:nvPicPr>
          <p:cNvPr id="3" name="그림 2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62785B-7A24-7EE9-84C4-1723274B4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234" y="443175"/>
            <a:ext cx="4579062" cy="385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686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28DC8A-062E-B8FC-333F-B84F3E327A91}"/>
              </a:ext>
            </a:extLst>
          </p:cNvPr>
          <p:cNvSpPr txBox="1"/>
          <p:nvPr/>
        </p:nvSpPr>
        <p:spPr>
          <a:xfrm>
            <a:off x="1151068" y="1981200"/>
            <a:ext cx="71048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/>
              <a:t>참고</a:t>
            </a:r>
            <a:r>
              <a:rPr lang="en-US" altLang="ko-KR" sz="4400"/>
              <a:t>: </a:t>
            </a:r>
            <a:r>
              <a:rPr lang="ko-KR" altLang="en-US" sz="4400"/>
              <a:t>작년 강의 슬라이드 내용</a:t>
            </a:r>
          </a:p>
        </p:txBody>
      </p:sp>
    </p:spTree>
    <p:extLst>
      <p:ext uri="{BB962C8B-B14F-4D97-AF65-F5344CB8AC3E}">
        <p14:creationId xmlns:p14="http://schemas.microsoft.com/office/powerpoint/2010/main" val="1680634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21DA03-475F-C8E3-076D-A63999671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1214"/>
            <a:ext cx="9144000" cy="3403304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IDLE </a:t>
            </a:r>
            <a:r>
              <a:rPr lang="ko-KR" altLang="en-US"/>
              <a:t>실행 화면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55202" y="618982"/>
            <a:ext cx="8981294" cy="414343"/>
          </a:xfrm>
        </p:spPr>
        <p:txBody>
          <a:bodyPr/>
          <a:lstStyle/>
          <a:p>
            <a:r>
              <a:rPr lang="en-US" altLang="ko-KR" dirty="0"/>
              <a:t>Python </a:t>
            </a:r>
            <a:r>
              <a:rPr lang="ko-KR" altLang="en-US" dirty="0"/>
              <a:t>언어로 지시하면</a:t>
            </a:r>
            <a:r>
              <a:rPr lang="en-US" altLang="ko-KR" dirty="0"/>
              <a:t>,</a:t>
            </a:r>
            <a:r>
              <a:rPr lang="ko-KR" altLang="en-US" dirty="0"/>
              <a:t> 이를 해석해서 일을 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7" name="직선 화살표 연결선 6"/>
          <p:cNvCxnSpPr>
            <a:cxnSpLocks/>
          </p:cNvCxnSpPr>
          <p:nvPr/>
        </p:nvCxnSpPr>
        <p:spPr bwMode="auto">
          <a:xfrm flipH="1" flipV="1">
            <a:off x="536713" y="2447372"/>
            <a:ext cx="1600230" cy="531572"/>
          </a:xfrm>
          <a:prstGeom prst="straightConnector1">
            <a:avLst/>
          </a:prstGeom>
          <a:solidFill>
            <a:schemeClr val="accent1"/>
          </a:solidFill>
          <a:ln w="76200" cap="rnd" cmpd="sng" algn="ctr">
            <a:solidFill>
              <a:schemeClr val="hlink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직사각형 7"/>
          <p:cNvSpPr/>
          <p:nvPr/>
        </p:nvSpPr>
        <p:spPr>
          <a:xfrm>
            <a:off x="2136942" y="2816864"/>
            <a:ext cx="5207793" cy="802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</a:pPr>
            <a:r>
              <a:rPr lang="ko-KR" altLang="en-US" sz="2100" b="1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커서가 깜빡임</a:t>
            </a:r>
            <a:r>
              <a:rPr lang="en-US" altLang="ko-KR" sz="2100" b="1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r>
              <a:rPr lang="ko-KR" altLang="en-US" sz="2100" b="1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뭔가 말을 하라고 함</a:t>
            </a:r>
            <a:r>
              <a:rPr lang="en-US" altLang="ko-KR" sz="2100" b="1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spcAft>
                <a:spcPts val="450"/>
              </a:spcAft>
            </a:pPr>
            <a:r>
              <a:rPr lang="ko-KR" altLang="en-US" sz="2100" b="1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여기에 지시를 내리면 됨</a:t>
            </a:r>
            <a:r>
              <a:rPr lang="en-US" altLang="ko-KR" sz="2100" b="1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3603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054C1-F830-9F6C-F5EB-8F609C8A6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Hello, Python.</a:t>
            </a:r>
            <a:endParaRPr lang="ko-KR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BCD129-B457-72C6-A5AB-22C6DF31B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9362"/>
            <a:ext cx="9144000" cy="132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815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</p:spPr>
        <p:txBody>
          <a:bodyPr/>
          <a:lstStyle/>
          <a:p>
            <a:r>
              <a:rPr lang="ko-KR" altLang="en-US" dirty="0"/>
              <a:t>계산을 시켜보자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BF0DA1-C5DC-260B-C544-655C27FCB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9238"/>
            <a:ext cx="9144000" cy="480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899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</p:spPr>
        <p:txBody>
          <a:bodyPr/>
          <a:lstStyle/>
          <a:p>
            <a:r>
              <a:rPr lang="ko-KR" altLang="en-US" dirty="0"/>
              <a:t>나누기와 나머지 연산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6382D6-B4B4-F000-C179-EF3F6070C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3236"/>
            <a:ext cx="9144000" cy="414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807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</p:spPr>
        <p:txBody>
          <a:bodyPr/>
          <a:lstStyle/>
          <a:p>
            <a:r>
              <a:rPr lang="en-US" altLang="ko-KR" dirty="0"/>
              <a:t>IDLE </a:t>
            </a:r>
            <a:r>
              <a:rPr lang="ko-KR" altLang="en-US" dirty="0" err="1"/>
              <a:t>에디팅</a:t>
            </a:r>
            <a:r>
              <a:rPr lang="ko-KR" altLang="en-US" dirty="0"/>
              <a:t> 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5202" y="618982"/>
            <a:ext cx="8981294" cy="4275028"/>
          </a:xfrm>
        </p:spPr>
        <p:txBody>
          <a:bodyPr/>
          <a:lstStyle/>
          <a:p>
            <a:r>
              <a:rPr lang="ko-KR" altLang="en-US" dirty="0"/>
              <a:t>라인 단위로의 입력이 기본</a:t>
            </a:r>
            <a:endParaRPr lang="en-US" altLang="ko-KR" dirty="0"/>
          </a:p>
          <a:p>
            <a:r>
              <a:rPr lang="ko-KR" altLang="en-US" dirty="0"/>
              <a:t>이미 입력한 라인은 편집이 불가능</a:t>
            </a:r>
            <a:endParaRPr lang="en-US" altLang="ko-KR" dirty="0"/>
          </a:p>
          <a:p>
            <a:r>
              <a:rPr lang="ko-KR" altLang="en-US" dirty="0"/>
              <a:t>입력한 라인들은 내부 버퍼에 저장되어 있음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Alt + p</a:t>
            </a:r>
            <a:r>
              <a:rPr lang="ko-KR" altLang="en-US" dirty="0"/>
              <a:t> 와 </a:t>
            </a:r>
            <a:r>
              <a:rPr lang="en-US" altLang="ko-KR" dirty="0"/>
              <a:t>Alt + n </a:t>
            </a:r>
            <a:r>
              <a:rPr lang="ko-KR" altLang="en-US" dirty="0"/>
              <a:t>을 이용해서</a:t>
            </a:r>
            <a:r>
              <a:rPr lang="en-US" altLang="ko-KR" dirty="0"/>
              <a:t>,</a:t>
            </a:r>
            <a:r>
              <a:rPr lang="ko-KR" altLang="en-US" dirty="0"/>
              <a:t> 앞서 입력했던 라인들을 </a:t>
            </a:r>
            <a:r>
              <a:rPr lang="ko-KR" altLang="en-US" dirty="0" err="1"/>
              <a:t>꺼내올</a:t>
            </a:r>
            <a:r>
              <a:rPr lang="ko-KR" altLang="en-US" dirty="0"/>
              <a:t> 수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8417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</p:spPr>
        <p:txBody>
          <a:bodyPr/>
          <a:lstStyle/>
          <a:p>
            <a:r>
              <a:rPr lang="ko-KR" altLang="en-US"/>
              <a:t>연산 기호</a:t>
            </a:r>
          </a:p>
        </p:txBody>
      </p:sp>
      <p:graphicFrame>
        <p:nvGraphicFramePr>
          <p:cNvPr id="12" name="Shape 356"/>
          <p:cNvGraphicFramePr/>
          <p:nvPr/>
        </p:nvGraphicFramePr>
        <p:xfrm>
          <a:off x="2696091" y="942976"/>
          <a:ext cx="3609294" cy="343614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22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6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317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ko-KR" altLang="en-US" sz="1800" b="0" i="0" u="none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Arial" panose="020B0604020202020204" pitchFamily="34" charset="0"/>
                          <a:sym typeface="Cabin"/>
                        </a:rPr>
                        <a:t>연산자</a:t>
                      </a:r>
                      <a:endParaRPr lang="en-US" sz="1800" b="0" i="0" u="none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Arial" panose="020B0604020202020204" pitchFamily="34" charset="0"/>
                        <a:sym typeface="Cabin"/>
                      </a:endParaRP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ko-KR" altLang="en-US" sz="1800" b="0" i="0" u="none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Arial" panose="020B0604020202020204" pitchFamily="34" charset="0"/>
                          <a:sym typeface="Cabin"/>
                        </a:rPr>
                        <a:t>연산</a:t>
                      </a:r>
                      <a:endParaRPr lang="en-US" sz="1800" b="0" i="0" u="none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Arial" panose="020B0604020202020204" pitchFamily="34" charset="0"/>
                        <a:sym typeface="Cabin"/>
                      </a:endParaRP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>
                        <a:alpha val="4941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494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1800" b="0" i="0" u="none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Arial" panose="020B0604020202020204" pitchFamily="34" charset="0"/>
                          <a:sym typeface="Cabin"/>
                        </a:rPr>
                        <a:t>+</a:t>
                      </a: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ko-KR" altLang="en-US" sz="1800" b="0" i="0" u="none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Arial" panose="020B0604020202020204" pitchFamily="34" charset="0"/>
                          <a:sym typeface="Cabin"/>
                        </a:rPr>
                        <a:t>덧셈</a:t>
                      </a:r>
                      <a:endParaRPr lang="en-US" sz="1800" b="0" i="0" u="none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Arial" panose="020B0604020202020204" pitchFamily="34" charset="0"/>
                        <a:sym typeface="Cabin"/>
                      </a:endParaRP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494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1800" b="0" i="0" u="none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Arial" panose="020B0604020202020204" pitchFamily="34" charset="0"/>
                          <a:sym typeface="Cabin"/>
                        </a:rPr>
                        <a:t>-</a:t>
                      </a: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ko-KR" altLang="en-US" sz="1800" b="0" i="0" u="none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Arial" panose="020B0604020202020204" pitchFamily="34" charset="0"/>
                          <a:sym typeface="Cabin"/>
                        </a:rPr>
                        <a:t>뺄셈</a:t>
                      </a:r>
                      <a:endParaRPr lang="en-US" sz="1800" b="0" i="0" u="none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Arial" panose="020B0604020202020204" pitchFamily="34" charset="0"/>
                        <a:sym typeface="Cabin"/>
                      </a:endParaRP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494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1800" b="0" i="0" u="none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Arial" panose="020B0604020202020204" pitchFamily="34" charset="0"/>
                          <a:sym typeface="Cabin"/>
                        </a:rPr>
                        <a:t>*</a:t>
                      </a: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ko-KR" altLang="en-US" sz="1800" b="0" i="0" u="none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Arial" panose="020B0604020202020204" pitchFamily="34" charset="0"/>
                          <a:sym typeface="Cabin"/>
                        </a:rPr>
                        <a:t>곱셈</a:t>
                      </a:r>
                      <a:endParaRPr lang="en-US" sz="1800" b="0" i="0" u="none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Arial" panose="020B0604020202020204" pitchFamily="34" charset="0"/>
                        <a:sym typeface="Cabin"/>
                      </a:endParaRP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494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1800" b="0" i="0" u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Arial" panose="020B0604020202020204" pitchFamily="34" charset="0"/>
                          <a:sym typeface="Cabin"/>
                        </a:rPr>
                        <a:t>/ </a:t>
                      </a:r>
                      <a:r>
                        <a:rPr lang="ko-KR" altLang="en-US" sz="1800" b="0" i="0" u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Arial" panose="020B0604020202020204" pitchFamily="34" charset="0"/>
                          <a:sym typeface="Cabin"/>
                        </a:rPr>
                        <a:t>과 </a:t>
                      </a:r>
                      <a:r>
                        <a:rPr lang="en-US" altLang="ko-KR" sz="1800" b="0" i="0" u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Arial" panose="020B0604020202020204" pitchFamily="34" charset="0"/>
                          <a:sym typeface="Cabin"/>
                        </a:rPr>
                        <a:t>//</a:t>
                      </a:r>
                      <a:endParaRPr lang="en-US" sz="1800" b="0" i="0" u="none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Arial" panose="020B0604020202020204" pitchFamily="34" charset="0"/>
                        <a:sym typeface="Cabin"/>
                      </a:endParaRP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ko-KR" altLang="en-US" sz="1800" b="0" i="0" u="none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Arial" panose="020B0604020202020204" pitchFamily="34" charset="0"/>
                          <a:sym typeface="Cabin"/>
                        </a:rPr>
                        <a:t>나눗셈</a:t>
                      </a:r>
                      <a:endParaRPr lang="en-US" sz="1800" b="0" i="0" u="none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Arial" panose="020B0604020202020204" pitchFamily="34" charset="0"/>
                        <a:sym typeface="Cabin"/>
                      </a:endParaRP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494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1800" b="0" i="0" u="none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Arial" panose="020B0604020202020204" pitchFamily="34" charset="0"/>
                          <a:sym typeface="Cabin"/>
                        </a:rPr>
                        <a:t>**</a:t>
                      </a: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ko-KR" altLang="en-US" sz="1800" b="0" i="0" u="none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Arial" panose="020B0604020202020204" pitchFamily="34" charset="0"/>
                          <a:sym typeface="Cabin"/>
                        </a:rPr>
                        <a:t>제곱</a:t>
                      </a:r>
                      <a:endParaRPr lang="en-US" sz="1800" b="0" i="0" u="none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Arial" panose="020B0604020202020204" pitchFamily="34" charset="0"/>
                        <a:sym typeface="Cabin"/>
                      </a:endParaRP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494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1800" b="0" i="0" u="none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Arial" panose="020B0604020202020204" pitchFamily="34" charset="0"/>
                          <a:sym typeface="Cabin"/>
                        </a:rPr>
                        <a:t>%</a:t>
                      </a: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ko-KR" altLang="en-US" sz="1800" b="0" i="0" u="none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Arial" panose="020B0604020202020204" pitchFamily="34" charset="0"/>
                          <a:sym typeface="Cabin"/>
                        </a:rPr>
                        <a:t>나머지</a:t>
                      </a:r>
                      <a:endParaRPr lang="en-US" sz="1800" b="0" i="0" u="none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Arial" panose="020B0604020202020204" pitchFamily="34" charset="0"/>
                        <a:sym typeface="Cabin"/>
                      </a:endParaRP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1139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</p:spPr>
        <p:txBody>
          <a:bodyPr/>
          <a:lstStyle/>
          <a:p>
            <a:r>
              <a:rPr lang="ko-KR" altLang="en-US" dirty="0"/>
              <a:t>변수</a:t>
            </a:r>
            <a:r>
              <a:rPr lang="en-US" altLang="ko-KR" dirty="0"/>
              <a:t>(variable)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5202" y="618982"/>
            <a:ext cx="8981294" cy="4275028"/>
          </a:xfrm>
        </p:spPr>
        <p:txBody>
          <a:bodyPr/>
          <a:lstStyle/>
          <a:p>
            <a:r>
              <a:rPr lang="ko-KR" altLang="en-US" dirty="0"/>
              <a:t>변수</a:t>
            </a:r>
            <a:r>
              <a:rPr lang="en-US" altLang="ko-KR" dirty="0"/>
              <a:t>:</a:t>
            </a:r>
            <a:r>
              <a:rPr lang="ko-KR" altLang="en-US" dirty="0"/>
              <a:t> 값을 저장해놓는 컴퓨터 메모리 안의 공간</a:t>
            </a:r>
            <a:endParaRPr lang="en-US" altLang="ko-KR" dirty="0"/>
          </a:p>
          <a:p>
            <a:r>
              <a:rPr lang="ko-KR" altLang="en-US" dirty="0"/>
              <a:t>변수는 해당되는 이름이 있다</a:t>
            </a:r>
            <a:r>
              <a:rPr lang="en-US" altLang="ko-KR" dirty="0"/>
              <a:t>.</a:t>
            </a:r>
            <a:r>
              <a:rPr lang="ko-KR" altLang="en-US" dirty="0"/>
              <a:t> 프로그래머가 이름을 지어야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이름은 영문자와 숫자를 조합해서 씀</a:t>
            </a:r>
            <a:r>
              <a:rPr lang="en-US" altLang="ko-KR" dirty="0"/>
              <a:t>.</a:t>
            </a:r>
            <a:r>
              <a:rPr lang="ko-KR" altLang="en-US" dirty="0"/>
              <a:t> 단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파이썬의</a:t>
            </a:r>
            <a:r>
              <a:rPr lang="ko-KR" altLang="en-US" dirty="0"/>
              <a:t> 기본 단어는 쓰면 안됨</a:t>
            </a:r>
            <a:r>
              <a:rPr lang="en-US" altLang="ko-KR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031257-B28A-231C-173D-068A415CD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3896"/>
            <a:ext cx="9144000" cy="2474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6667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</p:spPr>
        <p:txBody>
          <a:bodyPr/>
          <a:lstStyle/>
          <a:p>
            <a:r>
              <a:rPr lang="ko-KR" altLang="en-US" dirty="0"/>
              <a:t>문자열</a:t>
            </a:r>
            <a:r>
              <a:rPr lang="en-US" altLang="ko-KR" dirty="0"/>
              <a:t>(String)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557338" y="4063255"/>
            <a:ext cx="620077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</a:pPr>
            <a:r>
              <a:rPr lang="ko-KR" altLang="en-US" sz="1500" b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문자열은 문자들의 집함임</a:t>
            </a:r>
            <a:r>
              <a:rPr lang="en-US" altLang="ko-KR" sz="1500" b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r>
              <a:rPr lang="ko-KR" altLang="en-US" sz="1500" b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여러 개의 문자들을 나열한 것</a:t>
            </a:r>
            <a:r>
              <a:rPr lang="en-US" altLang="ko-KR" sz="1500" b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r>
              <a:rPr lang="ko-KR" altLang="en-US" sz="1500" b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큰따옴표 또는 작은 따옴표로 감쌈</a:t>
            </a:r>
            <a:r>
              <a:rPr lang="en-US" altLang="ko-KR" sz="1500" b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r>
              <a:rPr lang="ko-KR" altLang="en-US" sz="1500" b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한글</a:t>
            </a:r>
            <a:r>
              <a:rPr lang="en-US" altLang="ko-KR" sz="1500" b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lang="ko-KR" altLang="en-US" sz="1500" b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영어 상관없음</a:t>
            </a:r>
            <a:r>
              <a:rPr lang="en-US" altLang="ko-KR" sz="1500" b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en-US" altLang="ko-KR" sz="1500" b="1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F0AAC7-16EE-1896-80F8-53F949AD5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4361"/>
            <a:ext cx="9144000" cy="199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273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</p:spPr>
        <p:txBody>
          <a:bodyPr/>
          <a:lstStyle/>
          <a:p>
            <a:r>
              <a:rPr lang="en-US" altLang="ko-KR" dirty="0"/>
              <a:t>bool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5202" y="618982"/>
            <a:ext cx="8981294" cy="567088"/>
          </a:xfrm>
        </p:spPr>
        <p:txBody>
          <a:bodyPr/>
          <a:lstStyle/>
          <a:p>
            <a:r>
              <a:rPr lang="ko-KR" altLang="en-US" dirty="0"/>
              <a:t>참</a:t>
            </a:r>
            <a:r>
              <a:rPr lang="en-US" altLang="ko-KR" dirty="0"/>
              <a:t>(True), </a:t>
            </a:r>
            <a:r>
              <a:rPr lang="ko-KR" altLang="en-US" dirty="0"/>
              <a:t>또는 거짓</a:t>
            </a:r>
            <a:r>
              <a:rPr lang="en-US" altLang="ko-KR" dirty="0"/>
              <a:t>(False)</a:t>
            </a:r>
            <a:r>
              <a:rPr lang="ko-KR" altLang="en-US" dirty="0"/>
              <a:t>을 나타내는데 사용되는 </a:t>
            </a:r>
            <a:r>
              <a:rPr lang="ko-KR" altLang="en-US" dirty="0" err="1"/>
              <a:t>자료형</a:t>
            </a:r>
            <a:endParaRPr lang="ko-KR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9EBD4D-3576-3685-0C19-1D6F09327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4929"/>
            <a:ext cx="9144000" cy="225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4576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53C7874-A85E-9185-DB44-7B7FEE785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4852"/>
            <a:ext cx="9144000" cy="3882964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</p:spPr>
        <p:txBody>
          <a:bodyPr/>
          <a:lstStyle/>
          <a:p>
            <a:r>
              <a:rPr lang="ko-KR" altLang="en-US" dirty="0"/>
              <a:t>기본 </a:t>
            </a:r>
            <a:r>
              <a:rPr lang="ko-KR" altLang="en-US" dirty="0" err="1"/>
              <a:t>자료형</a:t>
            </a:r>
            <a:r>
              <a:rPr lang="en-US" altLang="ko-KR" dirty="0"/>
              <a:t>(Type)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5202" y="618982"/>
            <a:ext cx="8981294" cy="631740"/>
          </a:xfrm>
        </p:spPr>
        <p:txBody>
          <a:bodyPr/>
          <a:lstStyle/>
          <a:p>
            <a:r>
              <a:rPr lang="ko-KR" altLang="en-US" dirty="0"/>
              <a:t>변수에는 다양한 종류의 정보를 담을 수 있음</a:t>
            </a:r>
            <a:r>
              <a:rPr lang="en-US" altLang="ko-KR" dirty="0"/>
              <a:t>.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400659" y="1255639"/>
            <a:ext cx="14573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</a:pPr>
            <a:r>
              <a:rPr lang="ko-KR" altLang="en-US" b="1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정수형 </a:t>
            </a:r>
            <a:r>
              <a:rPr lang="en-US" altLang="ko-KR" b="1" dirty="0" err="1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int</a:t>
            </a:r>
            <a:endParaRPr lang="en-US" altLang="ko-KR" b="1" dirty="0">
              <a:solidFill>
                <a:srgbClr val="FFC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310141" y="1490551"/>
            <a:ext cx="16644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</a:pPr>
            <a:r>
              <a:rPr lang="ko-KR" altLang="en-US" b="1" dirty="0" err="1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실수형</a:t>
            </a:r>
            <a:r>
              <a:rPr lang="ko-KR" altLang="en-US" b="1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b="1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float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864283" y="1767194"/>
            <a:ext cx="18055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</a:pPr>
            <a:r>
              <a:rPr lang="ko-KR" altLang="en-US" b="1" dirty="0" err="1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문자열형</a:t>
            </a:r>
            <a:r>
              <a:rPr lang="ko-KR" altLang="en-US" b="1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b="1" dirty="0" err="1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str</a:t>
            </a:r>
            <a:endParaRPr lang="en-US" altLang="ko-KR" b="1" dirty="0">
              <a:solidFill>
                <a:srgbClr val="FFC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734601" y="2118119"/>
            <a:ext cx="18055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</a:pPr>
            <a:r>
              <a:rPr lang="ko-KR" altLang="en-US" b="1" dirty="0" err="1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참거짓형</a:t>
            </a:r>
            <a:r>
              <a:rPr lang="ko-KR" altLang="en-US" b="1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b="1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bool</a:t>
            </a:r>
          </a:p>
        </p:txBody>
      </p:sp>
    </p:spTree>
    <p:extLst>
      <p:ext uri="{BB962C8B-B14F-4D97-AF65-F5344CB8AC3E}">
        <p14:creationId xmlns:p14="http://schemas.microsoft.com/office/powerpoint/2010/main" val="37278169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3715ED-0894-BC99-BC13-7217BCC84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5327"/>
            <a:ext cx="9144000" cy="203284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</p:spPr>
        <p:txBody>
          <a:bodyPr/>
          <a:lstStyle/>
          <a:p>
            <a:r>
              <a:rPr lang="ko-KR" altLang="en-US"/>
              <a:t>사용자로부터 입력 받기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55202" y="618982"/>
            <a:ext cx="8981294" cy="4275028"/>
          </a:xfrm>
        </p:spPr>
        <p:txBody>
          <a:bodyPr/>
          <a:lstStyle/>
          <a:p>
            <a:r>
              <a:rPr lang="en-US" altLang="ko-KR"/>
              <a:t>input </a:t>
            </a:r>
            <a:r>
              <a:rPr lang="ko-KR" altLang="en-US"/>
              <a:t>함수를 이용함</a:t>
            </a:r>
            <a:r>
              <a:rPr lang="en-US" altLang="ko-KR"/>
              <a:t>.</a:t>
            </a:r>
          </a:p>
          <a:p>
            <a:r>
              <a:rPr lang="ko-KR" altLang="en-US"/>
              <a:t>사용자가 입력한 정보가  </a:t>
            </a:r>
            <a:r>
              <a:rPr lang="en-US" altLang="ko-KR"/>
              <a:t>"</a:t>
            </a:r>
            <a:r>
              <a:rPr lang="ko-KR" altLang="en-US"/>
              <a:t>문자열</a:t>
            </a:r>
            <a:r>
              <a:rPr lang="en-US" altLang="ko-KR"/>
              <a:t>＂</a:t>
            </a:r>
            <a:r>
              <a:rPr lang="ko-KR" altLang="en-US"/>
              <a:t>로 되어 넘어옴</a:t>
            </a:r>
            <a:r>
              <a:rPr lang="en-US" altLang="ko-KR"/>
              <a:t>.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778" y="2178360"/>
            <a:ext cx="749275" cy="104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9970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</p:spPr>
        <p:txBody>
          <a:bodyPr/>
          <a:lstStyle/>
          <a:p>
            <a:r>
              <a:rPr lang="ko-KR" altLang="en-US" dirty="0" err="1"/>
              <a:t>자료형</a:t>
            </a:r>
            <a:r>
              <a:rPr lang="ko-KR" altLang="en-US" dirty="0"/>
              <a:t> 변환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55202" y="618982"/>
            <a:ext cx="8981294" cy="4275028"/>
          </a:xfrm>
        </p:spPr>
        <p:txBody>
          <a:bodyPr/>
          <a:lstStyle/>
          <a:p>
            <a:r>
              <a:rPr lang="en-US" altLang="ko-KR"/>
              <a:t>mins</a:t>
            </a:r>
            <a:r>
              <a:rPr lang="ko-KR" altLang="en-US"/>
              <a:t>의 </a:t>
            </a:r>
            <a:r>
              <a:rPr lang="ko-KR" altLang="en-US" dirty="0"/>
              <a:t>값은 </a:t>
            </a:r>
            <a:r>
              <a:rPr lang="en-US" altLang="ko-KR" dirty="0"/>
              <a:t>4</a:t>
            </a:r>
            <a:r>
              <a:rPr lang="ko-KR" altLang="en-US" dirty="0"/>
              <a:t>가 아니고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‘4’</a:t>
            </a:r>
            <a:r>
              <a:rPr lang="ko-KR" altLang="en-US" dirty="0"/>
              <a:t>임</a:t>
            </a:r>
            <a:r>
              <a:rPr lang="en-US" altLang="ko-KR" dirty="0"/>
              <a:t>.</a:t>
            </a:r>
            <a:r>
              <a:rPr lang="ko-KR" altLang="en-US" dirty="0"/>
              <a:t> 즉</a:t>
            </a:r>
            <a:r>
              <a:rPr lang="en-US" altLang="ko-KR" dirty="0"/>
              <a:t>,</a:t>
            </a:r>
            <a:r>
              <a:rPr lang="ko-KR" altLang="en-US" dirty="0"/>
              <a:t> 정수가 아니고 </a:t>
            </a:r>
            <a:r>
              <a:rPr lang="ko-KR" altLang="en-US" dirty="0" err="1"/>
              <a:t>문자열임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이것을 정수로 바꾸기 위해서는 </a:t>
            </a:r>
            <a:r>
              <a:rPr lang="en-US" altLang="ko-KR" dirty="0" err="1"/>
              <a:t>int</a:t>
            </a:r>
            <a:r>
              <a:rPr lang="en-US" altLang="ko-KR" dirty="0"/>
              <a:t>() </a:t>
            </a:r>
            <a:r>
              <a:rPr lang="ko-KR" altLang="en-US" dirty="0"/>
              <a:t>라는 함수를 사용함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3A2C65-7D38-E80F-E07F-CF10B4202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2806"/>
            <a:ext cx="9144000" cy="296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2554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BDC52A-3468-2B4F-9326-6D3D72D5F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자료형</a:t>
            </a:r>
            <a:r>
              <a:rPr lang="ko-KR" altLang="en-US" dirty="0"/>
              <a:t> 변환</a:t>
            </a:r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135AD0E-6394-EC46-92DC-F38E08E8C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231" y="1013791"/>
            <a:ext cx="3558994" cy="369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0033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</p:spPr>
        <p:txBody>
          <a:bodyPr/>
          <a:lstStyle/>
          <a:p>
            <a:r>
              <a:rPr lang="ko-KR" altLang="en-US"/>
              <a:t>비교 연산 기호</a:t>
            </a:r>
          </a:p>
        </p:txBody>
      </p:sp>
      <p:graphicFrame>
        <p:nvGraphicFramePr>
          <p:cNvPr id="4" name="Shape 285"/>
          <p:cNvGraphicFramePr/>
          <p:nvPr/>
        </p:nvGraphicFramePr>
        <p:xfrm>
          <a:off x="1888580" y="1184870"/>
          <a:ext cx="5329138" cy="290270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07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15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569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ko-KR" altLang="en-US" sz="1800" b="0" i="0" u="non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ea"/>
                          <a:ea typeface="+mj-ea"/>
                          <a:cs typeface="Arial" charset="0"/>
                          <a:sym typeface="Cabin"/>
                        </a:rPr>
                        <a:t>기호</a:t>
                      </a:r>
                      <a:endParaRPr lang="en-US" sz="1800" b="0" i="0" u="non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j-ea"/>
                        <a:ea typeface="+mj-ea"/>
                        <a:cs typeface="Arial" charset="0"/>
                        <a:sym typeface="Cabin"/>
                      </a:endParaRP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ko-KR" altLang="en-US" sz="1800" b="0" i="0" u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ea"/>
                          <a:ea typeface="+mj-ea"/>
                          <a:cs typeface="Arial" charset="0"/>
                          <a:sym typeface="Cabin"/>
                        </a:rPr>
                        <a:t>뜻</a:t>
                      </a:r>
                      <a:endParaRPr lang="en-US" sz="1800" b="0" i="0" u="non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j-ea"/>
                        <a:ea typeface="+mj-ea"/>
                        <a:cs typeface="Arial" charset="0"/>
                        <a:sym typeface="Cabin"/>
                      </a:endParaRP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>
                        <a:alpha val="4941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75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1500" b="0" i="0" u="non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ea"/>
                          <a:ea typeface="+mj-ea"/>
                          <a:cs typeface="Arial" charset="0"/>
                          <a:sym typeface="Cabin"/>
                        </a:rPr>
                        <a:t>&lt;</a:t>
                      </a: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ko-KR" altLang="en-US" sz="1500" b="0" i="0" u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ea"/>
                          <a:ea typeface="+mj-ea"/>
                          <a:cs typeface="Arial" charset="0"/>
                          <a:sym typeface="Cabin"/>
                        </a:rPr>
                        <a:t>작다</a:t>
                      </a:r>
                      <a:endParaRPr lang="en-US" sz="1500" b="0" i="0" u="non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j-ea"/>
                        <a:ea typeface="+mj-ea"/>
                        <a:cs typeface="Arial" charset="0"/>
                        <a:sym typeface="Cabin"/>
                      </a:endParaRP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95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1500" b="0" i="0" u="non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ea"/>
                          <a:ea typeface="+mj-ea"/>
                          <a:cs typeface="Arial" charset="0"/>
                          <a:sym typeface="Cabin"/>
                        </a:rPr>
                        <a:t>&lt;=</a:t>
                      </a: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ko-KR" altLang="en-US" sz="1500" b="0" i="0" u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ea"/>
                          <a:ea typeface="+mj-ea"/>
                          <a:cs typeface="Arial" charset="0"/>
                          <a:sym typeface="Cabin"/>
                        </a:rPr>
                        <a:t>작거나 같다</a:t>
                      </a:r>
                      <a:endParaRPr lang="en-US" sz="1500" b="0" i="0" u="non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j-ea"/>
                        <a:ea typeface="+mj-ea"/>
                        <a:cs typeface="Arial" charset="0"/>
                        <a:sym typeface="Cabin"/>
                      </a:endParaRP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95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1500" b="0" i="0" u="non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ea"/>
                          <a:ea typeface="+mj-ea"/>
                          <a:cs typeface="Arial" charset="0"/>
                          <a:sym typeface="Cabin"/>
                        </a:rPr>
                        <a:t> == </a:t>
                      </a: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ko-KR" altLang="en-US" sz="1500" b="0" i="0" u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ea"/>
                          <a:ea typeface="+mj-ea"/>
                          <a:cs typeface="Arial" charset="0"/>
                          <a:sym typeface="Cabin"/>
                        </a:rPr>
                        <a:t>같다</a:t>
                      </a:r>
                      <a:endParaRPr lang="en-US" sz="1500" b="0" i="0" u="non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j-ea"/>
                        <a:ea typeface="+mj-ea"/>
                        <a:cs typeface="Arial" charset="0"/>
                        <a:sym typeface="Cabin"/>
                      </a:endParaRP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75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1500" b="0" i="0" u="non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ea"/>
                          <a:ea typeface="+mj-ea"/>
                          <a:cs typeface="Arial" charset="0"/>
                          <a:sym typeface="Cabin"/>
                        </a:rPr>
                        <a:t>&gt;=</a:t>
                      </a: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ko-KR" altLang="en-US" sz="1500" b="0" i="0" u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ea"/>
                          <a:ea typeface="+mj-ea"/>
                          <a:cs typeface="Arial" charset="0"/>
                          <a:sym typeface="Cabin"/>
                        </a:rPr>
                        <a:t>크거나 같다</a:t>
                      </a:r>
                      <a:endParaRPr lang="en-US" sz="1500" b="0" i="0" u="non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j-ea"/>
                        <a:ea typeface="+mj-ea"/>
                        <a:cs typeface="Arial" charset="0"/>
                        <a:sym typeface="Cabin"/>
                      </a:endParaRP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95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1500" b="0" i="0" u="non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ea"/>
                          <a:ea typeface="+mj-ea"/>
                          <a:cs typeface="Arial" charset="0"/>
                          <a:sym typeface="Cabin"/>
                        </a:rPr>
                        <a:t>&gt;</a:t>
                      </a: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ko-KR" altLang="en-US" sz="1500" b="0" i="0" u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ea"/>
                          <a:ea typeface="+mj-ea"/>
                          <a:cs typeface="Arial" charset="0"/>
                          <a:sym typeface="Cabin"/>
                        </a:rPr>
                        <a:t>크다</a:t>
                      </a:r>
                      <a:endParaRPr lang="en-US" sz="1500" b="0" i="0" u="non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j-ea"/>
                        <a:ea typeface="+mj-ea"/>
                        <a:cs typeface="Arial" charset="0"/>
                        <a:sym typeface="Cabin"/>
                      </a:endParaRP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75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1500" b="0" i="0" u="non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ea"/>
                          <a:ea typeface="+mj-ea"/>
                          <a:cs typeface="Arial" charset="0"/>
                          <a:sym typeface="Cabin"/>
                        </a:rPr>
                        <a:t>!=</a:t>
                      </a: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ko-KR" altLang="en-US" sz="1500" b="0" i="0" u="non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ea"/>
                          <a:ea typeface="+mj-ea"/>
                          <a:cs typeface="Arial" charset="0"/>
                          <a:sym typeface="Cabin"/>
                        </a:rPr>
                        <a:t>다르다</a:t>
                      </a:r>
                      <a:endParaRPr lang="en-US" sz="1500" b="0" i="0" u="non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j-ea"/>
                        <a:ea typeface="+mj-ea"/>
                        <a:cs typeface="Arial" charset="0"/>
                        <a:sym typeface="Cabin"/>
                      </a:endParaRPr>
                    </a:p>
                  </a:txBody>
                  <a:tcPr marL="28575" marR="28575" marT="28575" marB="28575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3283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</p:spPr>
        <p:txBody>
          <a:bodyPr/>
          <a:lstStyle/>
          <a:p>
            <a:r>
              <a:rPr lang="ko-KR" altLang="en-US"/>
              <a:t>문자열의 비교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BBF0E0-9C7E-C5DC-A185-F478EFA47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6519"/>
            <a:ext cx="9144000" cy="271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118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</p:spPr>
        <p:txBody>
          <a:bodyPr/>
          <a:lstStyle/>
          <a:p>
            <a:r>
              <a:rPr lang="ko-KR" altLang="en-US" dirty="0"/>
              <a:t>문자열 연산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3943B5-D8FA-6DBC-FE0F-2893C8EB0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040" y="675813"/>
            <a:ext cx="6991613" cy="406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0979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</p:spPr>
        <p:txBody>
          <a:bodyPr/>
          <a:lstStyle/>
          <a:p>
            <a:r>
              <a:rPr lang="en-US" altLang="ko-KR" dirty="0"/>
              <a:t>Slice(</a:t>
            </a:r>
            <a:r>
              <a:rPr lang="ko-KR" altLang="en-US" dirty="0"/>
              <a:t>슬라이스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5202" y="618982"/>
            <a:ext cx="8981294" cy="4275028"/>
          </a:xfrm>
        </p:spPr>
        <p:txBody>
          <a:bodyPr/>
          <a:lstStyle/>
          <a:p>
            <a:r>
              <a:rPr lang="ko-KR" altLang="en-US" dirty="0"/>
              <a:t>문자열의 일부분을 잘라내는 기법</a:t>
            </a:r>
            <a:endParaRPr lang="en-US" altLang="ko-KR" dirty="0"/>
          </a:p>
          <a:p>
            <a:pPr lvl="1"/>
            <a:r>
              <a:rPr lang="en-US" altLang="ko-KR" dirty="0"/>
              <a:t>name[</a:t>
            </a:r>
            <a:r>
              <a:rPr lang="ko-KR" altLang="en-US" dirty="0"/>
              <a:t> </a:t>
            </a:r>
            <a:r>
              <a:rPr lang="en-US" altLang="ko-KR" dirty="0"/>
              <a:t>start : stop : step ]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452533" y="1432701"/>
            <a:ext cx="4886324" cy="33239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&gt;&gt;&gt; </a:t>
            </a:r>
            <a:r>
              <a:rPr lang="ko-KR" altLang="en-US" sz="14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title</a:t>
            </a:r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 = "</a:t>
            </a:r>
            <a:r>
              <a:rPr lang="ko-KR" altLang="en-US" sz="14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Python</a:t>
            </a:r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 2D </a:t>
            </a:r>
            <a:r>
              <a:rPr lang="ko-KR" altLang="en-US" sz="14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Game</a:t>
            </a:r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ko-KR" altLang="en-US" sz="14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Programming</a:t>
            </a:r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"</a:t>
            </a:r>
          </a:p>
          <a:p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&gt;&gt;&gt; </a:t>
            </a:r>
            <a:r>
              <a:rPr lang="ko-KR" altLang="en-US" sz="14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title</a:t>
            </a:r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[0:6]</a:t>
            </a:r>
          </a:p>
          <a:p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ko-KR" altLang="en-US" sz="14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Python</a:t>
            </a:r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'</a:t>
            </a:r>
          </a:p>
          <a:p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&gt;&gt;&gt; </a:t>
            </a:r>
            <a:r>
              <a:rPr lang="ko-KR" altLang="en-US" sz="14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title</a:t>
            </a:r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[7:9]</a:t>
            </a:r>
          </a:p>
          <a:p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'2D'</a:t>
            </a:r>
          </a:p>
          <a:p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&gt;&gt;&gt; </a:t>
            </a:r>
            <a:r>
              <a:rPr lang="ko-KR" altLang="en-US" sz="14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title</a:t>
            </a:r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[10:14]</a:t>
            </a:r>
          </a:p>
          <a:p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ko-KR" altLang="en-US" sz="14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Game</a:t>
            </a:r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'</a:t>
            </a:r>
          </a:p>
          <a:p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&gt;&gt;&gt; </a:t>
            </a:r>
            <a:r>
              <a:rPr lang="ko-KR" altLang="en-US" sz="14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title</a:t>
            </a:r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[:6]</a:t>
            </a:r>
          </a:p>
          <a:p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ko-KR" altLang="en-US" sz="14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Python</a:t>
            </a:r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'</a:t>
            </a:r>
          </a:p>
          <a:p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&gt;&gt;&gt; </a:t>
            </a:r>
            <a:r>
              <a:rPr lang="ko-KR" altLang="en-US" sz="14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title</a:t>
            </a:r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[-11:]</a:t>
            </a:r>
          </a:p>
          <a:p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ko-KR" altLang="en-US" sz="14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Programming</a:t>
            </a:r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'</a:t>
            </a:r>
          </a:p>
          <a:p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&gt;&gt;&gt; </a:t>
            </a:r>
            <a:r>
              <a:rPr lang="ko-KR" altLang="en-US" sz="14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title</a:t>
            </a:r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[::2]</a:t>
            </a:r>
          </a:p>
          <a:p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ko-KR" altLang="en-US" sz="14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Pto</a:t>
            </a:r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ko-KR" altLang="en-US" sz="14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DGm</a:t>
            </a:r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ko-KR" altLang="en-US" sz="14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rgamn</a:t>
            </a:r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'</a:t>
            </a:r>
          </a:p>
          <a:p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&gt;&gt;&gt; </a:t>
            </a:r>
            <a:r>
              <a:rPr lang="ko-KR" altLang="en-US" sz="14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title</a:t>
            </a:r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[::-1]</a:t>
            </a:r>
          </a:p>
          <a:p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ko-KR" altLang="en-US" sz="14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gnimmargorP</a:t>
            </a:r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ko-KR" altLang="en-US" sz="14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emaG</a:t>
            </a:r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 D2 </a:t>
            </a:r>
            <a:r>
              <a:rPr lang="ko-KR" altLang="en-US" sz="14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nohtyP</a:t>
            </a:r>
            <a:r>
              <a:rPr lang="ko-KR" altLang="en-US" sz="1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40178539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</p:spPr>
        <p:txBody>
          <a:bodyPr/>
          <a:lstStyle/>
          <a:p>
            <a:r>
              <a:rPr lang="en-US" altLang="ko-KR" dirty="0"/>
              <a:t>List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31" y="797676"/>
            <a:ext cx="8211771" cy="385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0515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</p:spPr>
        <p:txBody>
          <a:bodyPr/>
          <a:lstStyle/>
          <a:p>
            <a:r>
              <a:rPr lang="en-US" altLang="ko-KR" dirty="0"/>
              <a:t>List </a:t>
            </a:r>
            <a:r>
              <a:rPr lang="ko-KR" altLang="en-US" dirty="0"/>
              <a:t>에서 </a:t>
            </a:r>
            <a:r>
              <a:rPr lang="en-US" altLang="ko-KR" dirty="0"/>
              <a:t>Slice </a:t>
            </a:r>
            <a:r>
              <a:rPr lang="ko-KR" altLang="en-US" dirty="0"/>
              <a:t>가 적용됨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1223"/>
            <a:ext cx="9127188" cy="299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8867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</p:spPr>
        <p:txBody>
          <a:bodyPr/>
          <a:lstStyle/>
          <a:p>
            <a:r>
              <a:rPr lang="en-US" altLang="ko-KR" dirty="0"/>
              <a:t>Dictionary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41" y="714614"/>
            <a:ext cx="6737519" cy="415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2122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44E57E4-3C95-4F5A-BD15-DC9E50D68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0726"/>
            <a:ext cx="10355804" cy="289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9104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</p:spPr>
        <p:txBody>
          <a:bodyPr/>
          <a:lstStyle/>
          <a:p>
            <a:r>
              <a:rPr lang="en-US" altLang="ko-KR" dirty="0"/>
              <a:t>Tuple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5202" y="618982"/>
            <a:ext cx="8981294" cy="4275028"/>
          </a:xfrm>
        </p:spPr>
        <p:txBody>
          <a:bodyPr/>
          <a:lstStyle/>
          <a:p>
            <a:r>
              <a:rPr lang="ko-KR" altLang="en-US" dirty="0"/>
              <a:t>여러 개의 값을 동시에 관리</a:t>
            </a:r>
            <a:r>
              <a:rPr lang="en-US" altLang="ko-KR" dirty="0"/>
              <a:t>.</a:t>
            </a:r>
            <a:r>
              <a:rPr lang="ko-KR" altLang="en-US" dirty="0"/>
              <a:t> 리스트와 유사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</a:t>
            </a:r>
            <a:r>
              <a:rPr lang="en-US" altLang="ko-KR" dirty="0"/>
              <a:t>,</a:t>
            </a:r>
            <a:r>
              <a:rPr lang="ko-KR" altLang="en-US" dirty="0"/>
              <a:t> 기본적으로 값을 바꿀 수는 없음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==&gt; </a:t>
            </a:r>
            <a:r>
              <a:rPr lang="ko-KR" altLang="en-US" dirty="0"/>
              <a:t>프로그램 중 변경이 되지 않는 값들의 모음이 필요할 때 사용하면 됨</a:t>
            </a:r>
            <a:r>
              <a:rPr lang="en-US" altLang="ko-KR" dirty="0"/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452" y="1685422"/>
            <a:ext cx="6273096" cy="320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8173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</p:spPr>
        <p:txBody>
          <a:bodyPr/>
          <a:lstStyle/>
          <a:p>
            <a:r>
              <a:rPr lang="en-US" altLang="ko-KR" dirty="0"/>
              <a:t>set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5563" y="619125"/>
            <a:ext cx="8980487" cy="695325"/>
          </a:xfrm>
        </p:spPr>
        <p:txBody>
          <a:bodyPr/>
          <a:lstStyle/>
          <a:p>
            <a:r>
              <a:rPr lang="ko-KR" altLang="en-US" dirty="0"/>
              <a:t>집합 자료형</a:t>
            </a:r>
            <a:r>
              <a:rPr lang="en-US" altLang="ko-KR" dirty="0"/>
              <a:t>, </a:t>
            </a:r>
            <a:r>
              <a:rPr lang="ko-KR" altLang="en-US" dirty="0"/>
              <a:t>리스트와 달리</a:t>
            </a:r>
            <a:r>
              <a:rPr lang="en-US" altLang="ko-KR" dirty="0"/>
              <a:t>,</a:t>
            </a:r>
            <a:r>
              <a:rPr lang="ko-KR" altLang="en-US" dirty="0"/>
              <a:t> 중복을 허용하지 않고</a:t>
            </a:r>
            <a:r>
              <a:rPr lang="en-US" altLang="ko-KR" dirty="0"/>
              <a:t>,</a:t>
            </a:r>
            <a:r>
              <a:rPr lang="ko-KR" altLang="en-US" dirty="0"/>
              <a:t> 순서가 없음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619" y="1089932"/>
            <a:ext cx="5604524" cy="377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7096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</p:spPr>
        <p:txBody>
          <a:bodyPr/>
          <a:lstStyle/>
          <a:p>
            <a:r>
              <a:rPr lang="en-US" altLang="ko-KR"/>
              <a:t>Complex Data Type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5202" y="618982"/>
            <a:ext cx="8981294" cy="4275028"/>
          </a:xfrm>
        </p:spPr>
        <p:txBody>
          <a:bodyPr/>
          <a:lstStyle/>
          <a:p>
            <a:r>
              <a:rPr lang="en-US" altLang="ko-KR" sz="1600" dirty="0"/>
              <a:t>List – list</a:t>
            </a:r>
          </a:p>
          <a:p>
            <a:pPr lvl="1"/>
            <a:r>
              <a:rPr lang="ko-KR" altLang="en-US" sz="1400" dirty="0"/>
              <a:t>순서가 있는</a:t>
            </a:r>
            <a:r>
              <a:rPr lang="en-US" altLang="ko-KR" sz="1400" dirty="0"/>
              <a:t>,</a:t>
            </a:r>
            <a:r>
              <a:rPr lang="ko-KR" altLang="en-US" sz="1400" dirty="0"/>
              <a:t> 중복을 허용하는 </a:t>
            </a:r>
            <a:r>
              <a:rPr lang="ko-KR" altLang="en-US" sz="1400" dirty="0" err="1"/>
              <a:t>데이타들의</a:t>
            </a:r>
            <a:r>
              <a:rPr lang="ko-KR" altLang="en-US" sz="1400" dirty="0"/>
              <a:t> 집합</a:t>
            </a:r>
            <a:r>
              <a:rPr lang="en-US" altLang="ko-KR" sz="1400" dirty="0"/>
              <a:t>.</a:t>
            </a:r>
          </a:p>
          <a:p>
            <a:pPr lvl="1"/>
            <a:r>
              <a:rPr lang="ko-KR" altLang="en-US" sz="1400" dirty="0"/>
              <a:t>원하는 데이터를 찾기 위해</a:t>
            </a:r>
            <a:r>
              <a:rPr lang="en-US" altLang="ko-KR" sz="1400" dirty="0"/>
              <a:t>,</a:t>
            </a:r>
            <a:r>
              <a:rPr lang="ko-KR" altLang="en-US" sz="1400" dirty="0"/>
              <a:t> 순서 </a:t>
            </a:r>
            <a:r>
              <a:rPr lang="en-US" altLang="ko-KR" sz="1400" dirty="0"/>
              <a:t>index </a:t>
            </a:r>
            <a:r>
              <a:rPr lang="ko-KR" altLang="en-US" sz="1400" dirty="0"/>
              <a:t>를 이용</a:t>
            </a:r>
            <a:r>
              <a:rPr lang="en-US" altLang="ko-KR" sz="1400" dirty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/>
              <a:t>Dictionary – </a:t>
            </a:r>
            <a:r>
              <a:rPr lang="en-US" altLang="ko-KR" sz="1600" dirty="0" err="1"/>
              <a:t>dict</a:t>
            </a:r>
            <a:endParaRPr lang="en-US" altLang="ko-KR" sz="1600" dirty="0"/>
          </a:p>
          <a:p>
            <a:pPr lvl="1"/>
            <a:r>
              <a:rPr lang="ko-KR" altLang="en-US" sz="1400" dirty="0"/>
              <a:t>검색을 위한 키를 갖는 </a:t>
            </a:r>
            <a:r>
              <a:rPr lang="ko-KR" altLang="en-US" sz="1400" dirty="0" err="1"/>
              <a:t>데이타들의</a:t>
            </a:r>
            <a:r>
              <a:rPr lang="ko-KR" altLang="en-US" sz="1400" dirty="0"/>
              <a:t> 집합</a:t>
            </a:r>
            <a:endParaRPr lang="en-US" altLang="ko-KR" sz="1400" dirty="0"/>
          </a:p>
          <a:p>
            <a:pPr lvl="1"/>
            <a:r>
              <a:rPr lang="en-US" altLang="ko-KR" sz="1400" dirty="0"/>
              <a:t>key – value </a:t>
            </a:r>
            <a:r>
              <a:rPr lang="ko-KR" altLang="en-US" sz="1400" dirty="0"/>
              <a:t>쌍 들의 집합</a:t>
            </a:r>
            <a:endParaRPr lang="en-US" altLang="ko-KR" sz="1400" dirty="0"/>
          </a:p>
          <a:p>
            <a:endParaRPr lang="en-US" altLang="ko-KR" sz="1600" dirty="0"/>
          </a:p>
          <a:p>
            <a:r>
              <a:rPr lang="en-US" altLang="ko-KR" sz="1600" dirty="0"/>
              <a:t>Tuple – tuple</a:t>
            </a:r>
          </a:p>
          <a:p>
            <a:pPr lvl="1"/>
            <a:r>
              <a:rPr lang="ko-KR" altLang="en-US" sz="1400" dirty="0"/>
              <a:t>순서가 있는</a:t>
            </a:r>
            <a:r>
              <a:rPr lang="en-US" altLang="ko-KR" sz="1400" dirty="0"/>
              <a:t>,</a:t>
            </a:r>
            <a:r>
              <a:rPr lang="ko-KR" altLang="en-US" sz="1400" dirty="0"/>
              <a:t> 중복을 허용하는 </a:t>
            </a:r>
            <a:r>
              <a:rPr lang="ko-KR" altLang="en-US" sz="1400" dirty="0" err="1"/>
              <a:t>데이타들의</a:t>
            </a:r>
            <a:r>
              <a:rPr lang="ko-KR" altLang="en-US" sz="1400" dirty="0"/>
              <a:t> 집합</a:t>
            </a:r>
            <a:endParaRPr lang="en-US" altLang="ko-KR" sz="1400" dirty="0"/>
          </a:p>
          <a:p>
            <a:pPr lvl="1"/>
            <a:r>
              <a:rPr lang="ko-KR" altLang="en-US" sz="1400" dirty="0"/>
              <a:t>다만</a:t>
            </a:r>
            <a:r>
              <a:rPr lang="en-US" altLang="ko-KR" sz="1400" dirty="0"/>
              <a:t>,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데이타값을</a:t>
            </a:r>
            <a:r>
              <a:rPr lang="ko-KR" altLang="en-US" sz="1400" dirty="0"/>
              <a:t> 변경하는 것은 불가</a:t>
            </a:r>
            <a:endParaRPr lang="en-US" altLang="ko-KR" sz="1400" dirty="0"/>
          </a:p>
          <a:p>
            <a:pPr lvl="1"/>
            <a:endParaRPr lang="en-US" altLang="ko-KR" sz="1400" dirty="0"/>
          </a:p>
          <a:p>
            <a:r>
              <a:rPr lang="en-US" altLang="ko-KR" sz="1600" dirty="0"/>
              <a:t>Set – set</a:t>
            </a:r>
          </a:p>
          <a:p>
            <a:pPr lvl="1"/>
            <a:r>
              <a:rPr lang="ko-KR" altLang="en-US" sz="1400" dirty="0"/>
              <a:t>중복을 허용하지 않는</a:t>
            </a:r>
            <a:r>
              <a:rPr lang="en-US" altLang="ko-KR" sz="1400" dirty="0"/>
              <a:t>,</a:t>
            </a:r>
            <a:r>
              <a:rPr lang="ko-KR" altLang="en-US" sz="1400" dirty="0"/>
              <a:t> 순서에 상관없는 </a:t>
            </a:r>
            <a:r>
              <a:rPr lang="ko-KR" altLang="en-US" sz="1400" dirty="0" err="1"/>
              <a:t>데이타들의</a:t>
            </a:r>
            <a:r>
              <a:rPr lang="ko-KR" altLang="en-US" sz="1400" dirty="0"/>
              <a:t> 집합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4904184" y="735836"/>
            <a:ext cx="249061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</a:pPr>
            <a:r>
              <a:rPr lang="en-US" altLang="ko-KR" sz="2100" b="1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</a:t>
            </a:r>
            <a:r>
              <a:rPr lang="ko-KR" altLang="en-US" sz="2100" b="1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100" b="1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val1, val2, … ]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130618" y="1705771"/>
            <a:ext cx="351523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</a:pPr>
            <a:r>
              <a:rPr lang="en-US" altLang="ko-KR" sz="2100" b="1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</a:t>
            </a:r>
            <a:r>
              <a:rPr lang="ko-KR" altLang="en-US" sz="2100" b="1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100" b="1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key1: val1, key2: val2, … }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4642927" y="2766702"/>
            <a:ext cx="249061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</a:pPr>
            <a:r>
              <a:rPr lang="en-US" altLang="ko-KR" sz="2100" b="1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100" b="1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100" b="1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val1, val2, … )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904184" y="3732129"/>
            <a:ext cx="249061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</a:pPr>
            <a:r>
              <a:rPr lang="en-US" altLang="ko-KR" sz="2100" b="1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</a:t>
            </a:r>
            <a:r>
              <a:rPr lang="ko-KR" altLang="en-US" sz="2100" b="1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100" b="1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val1, val2, … }</a:t>
            </a:r>
          </a:p>
        </p:txBody>
      </p:sp>
    </p:spTree>
    <p:extLst>
      <p:ext uri="{BB962C8B-B14F-4D97-AF65-F5344CB8AC3E}">
        <p14:creationId xmlns:p14="http://schemas.microsoft.com/office/powerpoint/2010/main" val="132266882"/>
      </p:ext>
    </p:extLst>
  </p:cSld>
  <p:clrMapOvr>
    <a:masterClrMapping/>
  </p:clrMapOvr>
</p:sld>
</file>

<file path=ppt/theme/theme1.xml><?xml version="1.0" encoding="utf-8"?>
<a:theme xmlns:a="http://schemas.openxmlformats.org/drawingml/2006/main" name="1_모자이크">
  <a:themeElements>
    <a:clrScheme name="1_모자이크 10">
      <a:dk1>
        <a:srgbClr val="000000"/>
      </a:dk1>
      <a:lt1>
        <a:srgbClr val="FFFFFF"/>
      </a:lt1>
      <a:dk2>
        <a:srgbClr val="000000"/>
      </a:dk2>
      <a:lt2>
        <a:srgbClr val="FF9900"/>
      </a:lt2>
      <a:accent1>
        <a:srgbClr val="FFCC99"/>
      </a:accent1>
      <a:accent2>
        <a:srgbClr val="FBA313"/>
      </a:accent2>
      <a:accent3>
        <a:srgbClr val="FFFFFF"/>
      </a:accent3>
      <a:accent4>
        <a:srgbClr val="000000"/>
      </a:accent4>
      <a:accent5>
        <a:srgbClr val="FFE2CA"/>
      </a:accent5>
      <a:accent6>
        <a:srgbClr val="E39310"/>
      </a:accent6>
      <a:hlink>
        <a:srgbClr val="CC3300"/>
      </a:hlink>
      <a:folHlink>
        <a:srgbClr val="FCC66E"/>
      </a:folHlink>
    </a:clrScheme>
    <a:fontScheme name="사용자 지정 1">
      <a:majorFont>
        <a:latin typeface="나눔스퀘어 Bold"/>
        <a:ea typeface="나눔스퀘어 Bold"/>
        <a:cs typeface=""/>
      </a:majorFont>
      <a:minorFont>
        <a:latin typeface="나눔스퀘어 Bold"/>
        <a:ea typeface="나눔스퀘어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rnd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나눔고딕" pitchFamily="50" charset="-127"/>
            <a:cs typeface="조선일보명조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rnd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나눔고딕" pitchFamily="50" charset="-127"/>
            <a:cs typeface="조선일보명조"/>
          </a:defRPr>
        </a:defPPr>
      </a:lstStyle>
    </a:lnDef>
  </a:objectDefaults>
  <a:extraClrSchemeLst>
    <a:extraClrScheme>
      <a:clrScheme name="1_모자이크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모자이크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모자이크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모자이크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모자이크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모자이크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모자이크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모자이크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모자이크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모자이크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모자이크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모자이크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3901</TotalTime>
  <Words>827</Words>
  <Application>Microsoft Office PowerPoint</Application>
  <PresentationFormat>화면 슬라이드 쇼(16:9)</PresentationFormat>
  <Paragraphs>174</Paragraphs>
  <Slides>36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5" baseType="lpstr">
      <vt:lpstr>Cabin</vt:lpstr>
      <vt:lpstr>나눔고딕</vt:lpstr>
      <vt:lpstr>나눔스퀘어</vt:lpstr>
      <vt:lpstr>나눔스퀘어 ExtraBold</vt:lpstr>
      <vt:lpstr>맑은 고딕</vt:lpstr>
      <vt:lpstr>Consolas</vt:lpstr>
      <vt:lpstr>JetBrains Mono</vt:lpstr>
      <vt:lpstr>Wingdings</vt:lpstr>
      <vt:lpstr>1_모자이크</vt:lpstr>
      <vt:lpstr>PowerPoint 프레젠테이션</vt:lpstr>
      <vt:lpstr>파이썬</vt:lpstr>
      <vt:lpstr>특징</vt:lpstr>
      <vt:lpstr>장점</vt:lpstr>
      <vt:lpstr>파이썬의 인기</vt:lpstr>
      <vt:lpstr>단점</vt:lpstr>
      <vt:lpstr>PowerPoint 프레젠테이션</vt:lpstr>
      <vt:lpstr>Vscode 내에서 OpenCode 및 Github Copilot 사용</vt:lpstr>
      <vt:lpstr>실습 : 파이썬 기초 자율 학습</vt:lpstr>
      <vt:lpstr>참고: 샘플 프롬프트</vt:lpstr>
      <vt:lpstr>PowerPoint 프레젠테이션</vt:lpstr>
      <vt:lpstr>PowerPoint 프레젠테이션</vt:lpstr>
      <vt:lpstr>IDLE 실행 화면</vt:lpstr>
      <vt:lpstr>Hello, Python.</vt:lpstr>
      <vt:lpstr>계산을 시켜보자.</vt:lpstr>
      <vt:lpstr>나누기와 나머지 연산</vt:lpstr>
      <vt:lpstr>IDLE 에디팅 팁</vt:lpstr>
      <vt:lpstr>연산 기호</vt:lpstr>
      <vt:lpstr>변수(variable)</vt:lpstr>
      <vt:lpstr>문자열(String)</vt:lpstr>
      <vt:lpstr>bool </vt:lpstr>
      <vt:lpstr>기본 자료형(Type)</vt:lpstr>
      <vt:lpstr>사용자로부터 입력 받기</vt:lpstr>
      <vt:lpstr>자료형 변환</vt:lpstr>
      <vt:lpstr>자료형 변환</vt:lpstr>
      <vt:lpstr>비교 연산 기호</vt:lpstr>
      <vt:lpstr>문자열의 비교</vt:lpstr>
      <vt:lpstr>문자열 연산</vt:lpstr>
      <vt:lpstr>Slice(슬라이스)</vt:lpstr>
      <vt:lpstr>List</vt:lpstr>
      <vt:lpstr>List 에서 Slice 가 적용됨.</vt:lpstr>
      <vt:lpstr>Dictionary</vt:lpstr>
      <vt:lpstr>PowerPoint 프레젠테이션</vt:lpstr>
      <vt:lpstr>Tuple</vt:lpstr>
      <vt:lpstr>set</vt:lpstr>
      <vt:lpstr>Complex Data Type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Dae-Hyun Lee</dc:creator>
  <cp:lastModifiedBy>이대현(A0125)</cp:lastModifiedBy>
  <cp:revision>733</cp:revision>
  <dcterms:created xsi:type="dcterms:W3CDTF">2017-12-17T05:40:28Z</dcterms:created>
  <dcterms:modified xsi:type="dcterms:W3CDTF">2026-09-06T14:10:57Z</dcterms:modified>
</cp:coreProperties>
</file>