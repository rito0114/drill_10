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7"/>
  </p:notesMasterIdLst>
  <p:handoutMasterIdLst>
    <p:handoutMasterId r:id="rId8"/>
  </p:handoutMasterIdLst>
  <p:sldIdLst>
    <p:sldId id="259" r:id="rId2"/>
    <p:sldId id="625" r:id="rId3"/>
    <p:sldId id="624" r:id="rId4"/>
    <p:sldId id="591" r:id="rId5"/>
    <p:sldId id="626" r:id="rId6"/>
  </p:sldIdLst>
  <p:sldSz cx="9144000" cy="5143500" type="screen16x9"/>
  <p:notesSz cx="6858000" cy="9144000"/>
  <p:defaultTextStyle>
    <a:defPPr>
      <a:defRPr lang="ko-KR"/>
    </a:defPPr>
    <a:lvl1pPr marL="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ABD8"/>
    <a:srgbClr val="048ED3"/>
    <a:srgbClr val="044CA2"/>
    <a:srgbClr val="1658A8"/>
    <a:srgbClr val="01B2CC"/>
    <a:srgbClr val="3399FF"/>
    <a:srgbClr val="99CCFF"/>
    <a:srgbClr val="66CCFF"/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88503" autoAdjust="0"/>
  </p:normalViewPr>
  <p:slideViewPr>
    <p:cSldViewPr snapToGrid="0">
      <p:cViewPr varScale="1">
        <p:scale>
          <a:sx n="170" d="100"/>
          <a:sy n="170" d="100"/>
        </p:scale>
        <p:origin x="7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5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62B07-010A-4736-9DFA-BB8F01696DB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C9138-B0E2-461F-B8E2-5CB27C6450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4500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B2639-E251-4B91-B04E-F4A39D6657D0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8B9CC-458F-4497-8737-CAF2F390B8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04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8B9CC-458F-4497-8737-CAF2F390B8C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27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58B9CC-458F-4497-8737-CAF2F390B8C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565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  <a:prstGeom prst="rect">
            <a:avLst/>
          </a:prstGeom>
        </p:spPr>
        <p:txBody>
          <a:bodyPr/>
          <a:lstStyle>
            <a:lvl1pPr>
              <a:defRPr sz="2200" b="1" i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5202" y="618982"/>
            <a:ext cx="8981294" cy="4275028"/>
          </a:xfrm>
          <a:prstGeom prst="rect">
            <a:avLst/>
          </a:prstGeom>
        </p:spPr>
        <p:txBody>
          <a:bodyPr/>
          <a:lstStyle>
            <a:lvl1pPr marL="124617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  <a:lvl2pPr marL="249235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2pPr>
            <a:lvl3pPr marL="498469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3pPr>
            <a:lvl4pPr marL="747704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4pPr>
            <a:lvl5pPr marL="996938" indent="-124617">
              <a:lnSpc>
                <a:spcPct val="100000"/>
              </a:lnSpc>
              <a:spcBef>
                <a:spcPts val="554"/>
              </a:spcBef>
              <a:buClr>
                <a:srgbClr val="048ED3"/>
              </a:buClr>
              <a:buFont typeface="Wingdings" panose="05000000000000000000" pitchFamily="2" charset="2"/>
              <a:buChar char="§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 마스터 텍스트 스타일을 편집합니다</a:t>
            </a:r>
            <a:r>
              <a:rPr lang="en-US" altLang="ko-KR" dirty="0"/>
              <a:t>. </a:t>
            </a:r>
            <a:endParaRPr lang="ko-KR" altLang="en-US" dirty="0"/>
          </a:p>
          <a:p>
            <a:pPr lvl="1"/>
            <a:r>
              <a:rPr lang="ko-KR" altLang="en-US" dirty="0"/>
              <a:t> 둘째 수준</a:t>
            </a:r>
          </a:p>
          <a:p>
            <a:pPr lvl="2"/>
            <a:r>
              <a:rPr lang="ko-KR" altLang="en-US" dirty="0"/>
              <a:t> 셋째 수준</a:t>
            </a:r>
          </a:p>
          <a:p>
            <a:pPr lvl="3"/>
            <a:r>
              <a:rPr lang="ko-KR" altLang="en-US" dirty="0"/>
              <a:t> 넷째 수준</a:t>
            </a:r>
          </a:p>
          <a:p>
            <a:pPr lvl="4"/>
            <a:r>
              <a:rPr lang="ko-KR" altLang="en-US" dirty="0"/>
              <a:t> 다섯째 수준</a:t>
            </a:r>
          </a:p>
        </p:txBody>
      </p:sp>
      <p:cxnSp>
        <p:nvCxnSpPr>
          <p:cNvPr id="4" name="Straight Connector 11"/>
          <p:cNvCxnSpPr>
            <a:cxnSpLocks/>
          </p:cNvCxnSpPr>
          <p:nvPr userDrawn="1"/>
        </p:nvCxnSpPr>
        <p:spPr>
          <a:xfrm>
            <a:off x="33418" y="568479"/>
            <a:ext cx="9003078" cy="0"/>
          </a:xfrm>
          <a:prstGeom prst="line">
            <a:avLst/>
          </a:prstGeom>
          <a:ln w="25400">
            <a:solidFill>
              <a:srgbClr val="048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91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9E58036D-FB22-427F-91AE-E1045B46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  <a:prstGeom prst="rect">
            <a:avLst/>
          </a:prstGeom>
        </p:spPr>
        <p:txBody>
          <a:bodyPr/>
          <a:lstStyle>
            <a:lvl1pPr>
              <a:defRPr sz="2200" b="1" i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737BA576-93AE-49D6-AEB2-07214FE6BB36}"/>
              </a:ext>
            </a:extLst>
          </p:cNvPr>
          <p:cNvCxnSpPr>
            <a:cxnSpLocks/>
          </p:cNvCxnSpPr>
          <p:nvPr userDrawn="1"/>
        </p:nvCxnSpPr>
        <p:spPr>
          <a:xfrm>
            <a:off x="33418" y="568479"/>
            <a:ext cx="9003078" cy="0"/>
          </a:xfrm>
          <a:prstGeom prst="line">
            <a:avLst/>
          </a:prstGeom>
          <a:ln w="25400">
            <a:solidFill>
              <a:srgbClr val="048E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4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1"/>
          <p:cNvSpPr txBox="1">
            <a:spLocks noChangeArrowheads="1"/>
          </p:cNvSpPr>
          <p:nvPr userDrawn="1"/>
        </p:nvSpPr>
        <p:spPr bwMode="auto">
          <a:xfrm>
            <a:off x="8" y="4937427"/>
            <a:ext cx="9128841" cy="1962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ko-KR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2D </a:t>
            </a:r>
            <a:r>
              <a:rPr lang="ko-KR" altLang="en-US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게임 프로그래밍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Copyleft by </a:t>
            </a:r>
            <a:r>
              <a:rPr lang="ko-KR" altLang="en-US" sz="675" b="1" baseline="0" dirty="0">
                <a:solidFill>
                  <a:schemeClr val="bg1">
                    <a:lumMod val="6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이대현</a:t>
            </a:r>
            <a:endParaRPr lang="ko-KR" altLang="en-US" sz="675" b="1" dirty="0">
              <a:solidFill>
                <a:schemeClr val="bg1">
                  <a:lumMod val="6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40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스퀘어" panose="020B0600000101010101" pitchFamily="50" charset="-127"/>
          <a:ea typeface="나눔스퀘어" panose="020B060000010101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5pPr>
      <a:lvl6pPr marL="316528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6pPr>
      <a:lvl7pPr marL="633056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7pPr>
      <a:lvl8pPr marL="949583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8pPr>
      <a:lvl9pPr marL="1266110" algn="l" rtl="0" fontAlgn="base" latinLnBrk="1">
        <a:spcBef>
          <a:spcPct val="0"/>
        </a:spcBef>
        <a:spcAft>
          <a:spcPct val="0"/>
        </a:spcAft>
        <a:defRPr kumimoji="1" sz="1523" b="1">
          <a:solidFill>
            <a:schemeClr val="tx1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0" indent="124617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b="1">
          <a:solidFill>
            <a:schemeClr val="tx1"/>
          </a:solidFill>
          <a:latin typeface="+mn-lt"/>
          <a:ea typeface="+mn-ea"/>
          <a:cs typeface="+mn-cs"/>
        </a:defRPr>
      </a:lvl1pPr>
      <a:lvl2pPr marL="249235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1108">
          <a:solidFill>
            <a:schemeClr val="tx1"/>
          </a:solidFill>
          <a:latin typeface="+mn-lt"/>
          <a:ea typeface="+mn-ea"/>
        </a:defRPr>
      </a:lvl2pPr>
      <a:lvl3pPr marL="498469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 sz="969">
          <a:solidFill>
            <a:schemeClr val="tx1"/>
          </a:solidFill>
          <a:latin typeface="+mn-lt"/>
          <a:ea typeface="+mn-ea"/>
        </a:defRPr>
      </a:lvl3pPr>
      <a:lvl4pPr marL="747704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831">
          <a:solidFill>
            <a:schemeClr val="tx1"/>
          </a:solidFill>
          <a:latin typeface="+mn-lt"/>
          <a:ea typeface="+mn-ea"/>
        </a:defRPr>
      </a:lvl4pPr>
      <a:lvl5pPr marL="996938" indent="-124617" algn="l" rtl="0" eaLnBrk="0" fontAlgn="base" latinLnBrk="1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5pPr>
      <a:lvl6pPr marL="1740901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6pPr>
      <a:lvl7pPr marL="2057429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7pPr>
      <a:lvl8pPr marL="2373957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8pPr>
      <a:lvl9pPr marL="2690485" indent="-158264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83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528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056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49583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110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2639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899167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5693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2221" algn="l" defTabSz="633056" rtl="0" eaLnBrk="1" latinLnBrk="1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dustinlee@tukorea.ac.kr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code.ai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/>
        </p:nvSpPr>
        <p:spPr>
          <a:xfrm>
            <a:off x="0" y="642943"/>
            <a:ext cx="9144000" cy="3278981"/>
          </a:xfrm>
          <a:prstGeom prst="rect">
            <a:avLst/>
          </a:prstGeom>
          <a:solidFill>
            <a:srgbClr val="048E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8" name="Rectangle 1"/>
          <p:cNvSpPr/>
          <p:nvPr/>
        </p:nvSpPr>
        <p:spPr>
          <a:xfrm>
            <a:off x="0" y="3921924"/>
            <a:ext cx="9144000" cy="1221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9" name="Rectangle 4"/>
          <p:cNvSpPr/>
          <p:nvPr/>
        </p:nvSpPr>
        <p:spPr>
          <a:xfrm>
            <a:off x="2225282" y="1205504"/>
            <a:ext cx="4688086" cy="509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나눔고딕"/>
              </a:rPr>
              <a:t>수업 소개</a:t>
            </a:r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  <a:cs typeface="나눔고딕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86125" y="2998251"/>
            <a:ext cx="2571750" cy="63491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2D </a:t>
            </a:r>
            <a:r>
              <a:rPr lang="ko-KR" altLang="en-US" sz="1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게임 프로그래밍</a:t>
            </a:r>
            <a:endParaRPr lang="en-US" altLang="ko-KR" sz="1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endParaRPr lang="en-US" altLang="ko-KR" sz="1013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/>
            <a:r>
              <a:rPr lang="ko-KR" altLang="en-US" sz="1013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이대현 교수</a:t>
            </a:r>
            <a:endParaRPr lang="en-US" altLang="ko-KR" sz="1013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3" name="Picture 2" descr="기본형 로고타입 강조">
            <a:extLst>
              <a:ext uri="{FF2B5EF4-FFF2-40B4-BE49-F238E27FC236}">
                <a16:creationId xmlns:a16="http://schemas.microsoft.com/office/drawing/2014/main" id="{7EF76DEC-645F-5075-3CAB-12F6CF5E7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967" y="4210680"/>
            <a:ext cx="2526698" cy="411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45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DFCC4F-4514-D07B-89F0-2499500F1358}"/>
              </a:ext>
            </a:extLst>
          </p:cNvPr>
          <p:cNvSpPr txBox="1"/>
          <p:nvPr/>
        </p:nvSpPr>
        <p:spPr>
          <a:xfrm>
            <a:off x="151074" y="567689"/>
            <a:ext cx="884185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2026</a:t>
            </a: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년</a:t>
            </a: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2</a:t>
            </a: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학기 </a:t>
            </a: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2D </a:t>
            </a: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게임 프로그래밍</a:t>
            </a:r>
            <a:endParaRPr lang="ko-KR" altLang="ko-KR" sz="2000"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굴림" panose="020B0600000101010101" pitchFamily="50" charset="-127"/>
            </a:endParaRPr>
          </a:p>
          <a:p>
            <a:pPr>
              <a:buNone/>
            </a:pP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담당교수</a:t>
            </a: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이대현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(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구내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0561, </a:t>
            </a:r>
            <a:r>
              <a:rPr lang="en-US" altLang="ko-KR" sz="1400" u="sng">
                <a:solidFill>
                  <a:srgbClr val="0000FF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  <a:hlinkClick r:id="rId2"/>
              </a:rPr>
              <a:t>dustinlee@tukorea.ac.kr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), E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동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216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호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굴림" panose="020B0600000101010101" pitchFamily="50" charset="-127"/>
              </a:rPr>
            </a:b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강의실</a:t>
            </a: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E-217 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굴림" panose="020B0600000101010101" pitchFamily="50" charset="-127"/>
              </a:rPr>
            </a:br>
            <a:b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개요</a:t>
            </a: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python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과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pico2d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를 사용하여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2D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게임의 입력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렌더링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애니메이션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이동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충돌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게임 객체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카메라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게임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AI, UI,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오디오 및 저장 시스템을 구현한다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. AI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를 튜터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·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페어 프로그래머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·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코딩 에이전트로 활용한다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. AI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가 생성한 결과를 그대로 사용하는 것이 아니라 명세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코드 검토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실행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테스트 및 설명 과정을 통해 검증하는 능력을 함께 기른다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.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교재</a:t>
            </a: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강의자료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(Git Server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를 통해서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PDF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파일로 제공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)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실습도구</a:t>
            </a:r>
            <a: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AI Agent (Opencode),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파이썬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vscode, pico2d</a:t>
            </a:r>
            <a:endParaRPr lang="ko-KR" altLang="ko-KR" sz="2000"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굴림" panose="020B0600000101010101" pitchFamily="50" charset="-127"/>
            </a:endParaRPr>
          </a:p>
          <a:p>
            <a:pPr>
              <a:buNone/>
            </a:pPr>
            <a:br>
              <a:rPr lang="en-US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ko-KR" altLang="ko-KR" sz="1400" b="1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평가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수시과제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(20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),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중간고사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(20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),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기말고사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(20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),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프로젝트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(40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)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총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100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 만점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-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수시과제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수업 시간 중 제시되는 실습 과제 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-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프로젝트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: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제시되는 주제에 따른 게임 개발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,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총 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3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회 발표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(10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 10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20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) =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총 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40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점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.</a:t>
            </a:r>
            <a:b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</a:b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- </a:t>
            </a:r>
            <a:r>
              <a:rPr lang="ko-KR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출석은 성적 평가에 반영되지 않음</a:t>
            </a:r>
            <a:r>
              <a:rPr lang="en-US" altLang="ko-KR" sz="1400"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Tahoma" panose="020B0604030504040204" pitchFamily="34" charset="0"/>
              </a:rPr>
              <a:t>. </a:t>
            </a:r>
            <a:endParaRPr lang="ko-KR" altLang="en-US" sz="14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5940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A4223-E629-68E6-F09E-B5A89036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수업 환경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4478-7E55-BA6F-9AAB-0A0D96A7F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Github(</a:t>
            </a:r>
            <a:r>
              <a:rPr lang="en-US" altLang="ko-KR" dirty="0">
                <a:hlinkClick r:id="rId3"/>
              </a:rPr>
              <a:t>https://github.com/</a:t>
            </a:r>
            <a:r>
              <a:rPr lang="en-US" altLang="ko-KR" dirty="0"/>
              <a:t> )</a:t>
            </a:r>
          </a:p>
          <a:p>
            <a:endParaRPr lang="en-US" altLang="ko-KR" dirty="0"/>
          </a:p>
          <a:p>
            <a:r>
              <a:rPr lang="en-US" altLang="ko-KR"/>
              <a:t>Opencode(</a:t>
            </a:r>
            <a:r>
              <a:rPr lang="en-US" altLang="ko-KR">
                <a:hlinkClick r:id="rId4"/>
              </a:rPr>
              <a:t>https://opencode.ai</a:t>
            </a:r>
            <a:r>
              <a:rPr lang="en-US" altLang="ko-KR"/>
              <a:t> ) / Github Copilot</a:t>
            </a:r>
          </a:p>
          <a:p>
            <a:pPr lvl="1"/>
            <a:r>
              <a:rPr lang="en-US" altLang="ko-KR"/>
              <a:t>Codex, Claude Code </a:t>
            </a:r>
            <a:r>
              <a:rPr lang="ko-KR" altLang="en-US"/>
              <a:t>사용자는 기존 툴 사용 가능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Git</a:t>
            </a:r>
          </a:p>
          <a:p>
            <a:endParaRPr lang="en-US" altLang="ko-KR"/>
          </a:p>
          <a:p>
            <a:r>
              <a:rPr lang="en-US" altLang="ko-KR"/>
              <a:t>Vscode</a:t>
            </a:r>
          </a:p>
          <a:p>
            <a:endParaRPr lang="en-US" altLang="ko-KR"/>
          </a:p>
          <a:p>
            <a:r>
              <a:rPr lang="en-US" altLang="ko-KR"/>
              <a:t>Pico2d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448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8C326-1131-455C-BCFC-FCEFD1EB5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02" y="104895"/>
            <a:ext cx="8981294" cy="414343"/>
          </a:xfrm>
        </p:spPr>
        <p:txBody>
          <a:bodyPr/>
          <a:lstStyle/>
          <a:p>
            <a:r>
              <a:rPr lang="en-US" altLang="ko-KR"/>
              <a:t>SW</a:t>
            </a:r>
            <a:r>
              <a:rPr lang="ko-KR" altLang="en-US"/>
              <a:t> </a:t>
            </a:r>
            <a:r>
              <a:rPr lang="ko-KR" altLang="en-US" dirty="0"/>
              <a:t>도구 사용을 위한 사전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493D52-B46A-4AAF-829C-7364B3645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2" y="618982"/>
            <a:ext cx="8981294" cy="4275028"/>
          </a:xfrm>
        </p:spPr>
        <p:txBody>
          <a:bodyPr/>
          <a:lstStyle/>
          <a:p>
            <a:r>
              <a:rPr lang="ko-KR" altLang="en-US" dirty="0"/>
              <a:t>이유를 알 수 없는 버그의 근원 </a:t>
            </a:r>
            <a:r>
              <a:rPr lang="en-US" altLang="ko-KR" dirty="0"/>
              <a:t>–</a:t>
            </a:r>
            <a:r>
              <a:rPr lang="ko-KR" altLang="en-US" dirty="0"/>
              <a:t> 한글 사용</a:t>
            </a:r>
          </a:p>
          <a:p>
            <a:endParaRPr lang="en-US" altLang="ko-KR" dirty="0"/>
          </a:p>
          <a:p>
            <a:r>
              <a:rPr lang="ko-KR" altLang="en-US" dirty="0"/>
              <a:t>한글을 쓰지 않는다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경로 이름</a:t>
            </a:r>
            <a:endParaRPr lang="en-US" altLang="ko-KR" dirty="0"/>
          </a:p>
          <a:p>
            <a:pPr lvl="1"/>
            <a:r>
              <a:rPr lang="ko-KR" altLang="en-US" dirty="0"/>
              <a:t>소스코드 이름</a:t>
            </a:r>
            <a:endParaRPr lang="en-US" altLang="ko-KR" dirty="0"/>
          </a:p>
          <a:p>
            <a:pPr lvl="1"/>
            <a:r>
              <a:rPr lang="en-US" altLang="ko-KR" dirty="0"/>
              <a:t>Windows </a:t>
            </a:r>
            <a:r>
              <a:rPr lang="ko-KR" altLang="en-US" dirty="0"/>
              <a:t>사용자 이름</a:t>
            </a:r>
            <a:endParaRPr lang="en-US" altLang="ko-KR" dirty="0"/>
          </a:p>
          <a:p>
            <a:pPr lvl="1"/>
            <a:r>
              <a:rPr lang="ko-KR" altLang="en-US" dirty="0"/>
              <a:t>영문 윈도우로 아예 전환하는 것도 괜찮음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파일 이름</a:t>
            </a:r>
            <a:r>
              <a:rPr lang="en-US" altLang="ko-KR" dirty="0"/>
              <a:t>,</a:t>
            </a:r>
            <a:r>
              <a:rPr lang="ko-KR" altLang="en-US" dirty="0"/>
              <a:t> 폴더 이름에 공백을 넣지 말자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099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E0C961-9F24-7B05-78EE-1A43901C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오늘 미션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62144-A101-43A9-7223-8DC95421B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개발 환경 구성</a:t>
            </a:r>
            <a:endParaRPr lang="en-US" altLang="ko-KR"/>
          </a:p>
          <a:p>
            <a:r>
              <a:rPr lang="en-US" altLang="ko-KR"/>
              <a:t>Opencode </a:t>
            </a:r>
            <a:r>
              <a:rPr lang="ko-KR" altLang="en-US"/>
              <a:t>윈도우 앱 이용하여 다음 내용을 구성</a:t>
            </a:r>
            <a:endParaRPr lang="en-US" altLang="ko-KR"/>
          </a:p>
          <a:p>
            <a:pPr lvl="1"/>
            <a:r>
              <a:rPr lang="en-US" altLang="ko-KR"/>
              <a:t>Vscode</a:t>
            </a:r>
            <a:r>
              <a:rPr lang="ko-KR" altLang="en-US"/>
              <a:t> 설치</a:t>
            </a:r>
            <a:endParaRPr lang="en-US" altLang="ko-KR"/>
          </a:p>
          <a:p>
            <a:pPr lvl="1"/>
            <a:r>
              <a:rPr lang="en-US" altLang="ko-KR"/>
              <a:t>Pico2d </a:t>
            </a:r>
            <a:r>
              <a:rPr lang="ko-KR" altLang="en-US"/>
              <a:t>설치</a:t>
            </a:r>
            <a:endParaRPr lang="en-US" altLang="ko-KR"/>
          </a:p>
          <a:p>
            <a:pPr lvl="1"/>
            <a:r>
              <a:rPr lang="en-US" altLang="ko-KR"/>
              <a:t>Vscode editor </a:t>
            </a:r>
            <a:r>
              <a:rPr lang="ko-KR" altLang="en-US"/>
              <a:t>안에서 </a:t>
            </a:r>
            <a:r>
              <a:rPr lang="en-US" altLang="ko-KR"/>
              <a:t>opencode ai </a:t>
            </a:r>
            <a:r>
              <a:rPr lang="ko-KR" altLang="en-US"/>
              <a:t>의 도움을 받아서</a:t>
            </a:r>
            <a:r>
              <a:rPr lang="en-US" altLang="ko-KR"/>
              <a:t>, pico2d </a:t>
            </a:r>
            <a:r>
              <a:rPr lang="ko-KR" altLang="en-US"/>
              <a:t>라이브러리를 활용해서 </a:t>
            </a:r>
            <a:r>
              <a:rPr lang="en-US" altLang="ko-KR"/>
              <a:t>2D </a:t>
            </a:r>
            <a:r>
              <a:rPr lang="ko-KR" altLang="en-US"/>
              <a:t>게임을 개발할 수 있는 환경을 구성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샘플 프로그램 실행</a:t>
            </a:r>
            <a:endParaRPr lang="en-US" altLang="ko-KR"/>
          </a:p>
          <a:p>
            <a:pPr lvl="1"/>
            <a:r>
              <a:rPr lang="ko-KR" altLang="en-US"/>
              <a:t>주의</a:t>
            </a:r>
            <a:r>
              <a:rPr lang="en-US" altLang="ko-KR"/>
              <a:t>: OpenCode </a:t>
            </a:r>
            <a:r>
              <a:rPr lang="ko-KR" altLang="en-US"/>
              <a:t>윈도우 앱 내에서 모든 것을 처리해야 함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495062"/>
      </p:ext>
    </p:extLst>
  </p:cSld>
  <p:clrMapOvr>
    <a:masterClrMapping/>
  </p:clrMapOvr>
</p:sld>
</file>

<file path=ppt/theme/theme1.xml><?xml version="1.0" encoding="utf-8"?>
<a:theme xmlns:a="http://schemas.openxmlformats.org/drawingml/2006/main" name="1_모자이크">
  <a:themeElements>
    <a:clrScheme name="1_모자이크 10">
      <a:dk1>
        <a:srgbClr val="000000"/>
      </a:dk1>
      <a:lt1>
        <a:srgbClr val="FFFFFF"/>
      </a:lt1>
      <a:dk2>
        <a:srgbClr val="000000"/>
      </a:dk2>
      <a:lt2>
        <a:srgbClr val="FF9900"/>
      </a:lt2>
      <a:accent1>
        <a:srgbClr val="FFCC99"/>
      </a:accent1>
      <a:accent2>
        <a:srgbClr val="FBA313"/>
      </a:accent2>
      <a:accent3>
        <a:srgbClr val="FFFFFF"/>
      </a:accent3>
      <a:accent4>
        <a:srgbClr val="000000"/>
      </a:accent4>
      <a:accent5>
        <a:srgbClr val="FFE2CA"/>
      </a:accent5>
      <a:accent6>
        <a:srgbClr val="E39310"/>
      </a:accent6>
      <a:hlink>
        <a:srgbClr val="CC3300"/>
      </a:hlink>
      <a:folHlink>
        <a:srgbClr val="FCC66E"/>
      </a:folHlink>
    </a:clrScheme>
    <a:fontScheme name="사용자 지정 1">
      <a:majorFont>
        <a:latin typeface="나눔스퀘어 Bold"/>
        <a:ea typeface="나눔스퀘어 Bold"/>
        <a:cs typeface=""/>
      </a:majorFont>
      <a:minorFont>
        <a:latin typeface="나눔스퀘어 Bold"/>
        <a:ea typeface="나눔스퀘어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나눔고딕" pitchFamily="50" charset="-127"/>
            <a:cs typeface="조선일보명조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rnd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나눔고딕" pitchFamily="50" charset="-127"/>
            <a:cs typeface="조선일보명조"/>
          </a:defRPr>
        </a:defPPr>
      </a:lstStyle>
    </a:lnDef>
  </a:objectDefaults>
  <a:extraClrSchemeLst>
    <a:extraClrScheme>
      <a:clrScheme name="1_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4400</TotalTime>
  <Words>339</Words>
  <Application>Microsoft Office PowerPoint</Application>
  <PresentationFormat>화면 슬라이드 쇼(16:9)</PresentationFormat>
  <Paragraphs>38</Paragraphs>
  <Slides>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KR</vt:lpstr>
      <vt:lpstr>나눔고딕</vt:lpstr>
      <vt:lpstr>나눔스퀘어</vt:lpstr>
      <vt:lpstr>나눔스퀘어 ExtraBold</vt:lpstr>
      <vt:lpstr>맑은 고딕</vt:lpstr>
      <vt:lpstr>Wingdings</vt:lpstr>
      <vt:lpstr>1_모자이크</vt:lpstr>
      <vt:lpstr>PowerPoint 프레젠테이션</vt:lpstr>
      <vt:lpstr>PowerPoint 프레젠테이션</vt:lpstr>
      <vt:lpstr>수업 환경</vt:lpstr>
      <vt:lpstr>SW 도구 사용을 위한 사전 준비</vt:lpstr>
      <vt:lpstr>오늘 미션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Dae-Hyun Lee</dc:creator>
  <cp:lastModifiedBy>이대현(A0125)</cp:lastModifiedBy>
  <cp:revision>760</cp:revision>
  <dcterms:created xsi:type="dcterms:W3CDTF">2017-12-17T05:40:28Z</dcterms:created>
  <dcterms:modified xsi:type="dcterms:W3CDTF">2026-09-06T13:55:56Z</dcterms:modified>
</cp:coreProperties>
</file>